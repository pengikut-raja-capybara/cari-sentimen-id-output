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" y="0"/>
            <a:ext cx="73152" cy="6858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" y="0"/>
            <a:ext cx="36576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0" y="3657600"/>
            <a:ext cx="5486400" cy="5486400"/>
          </a:xfrm>
          <a:prstGeom prst="ellipse">
            <a:avLst/>
          </a:prstGeom>
          <a:solidFill>
            <a:srgbClr val="131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3017520"/>
            <a:ext cx="2286000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914400"/>
            <a:ext cx="9601200" cy="201168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1500" b="1">
                <a:solidFill>
                  <a:srgbClr val="818CF8"/>
                </a:solidFill>
                <a:latin typeface="Segoe UI"/>
              </a:defRPr>
            </a:pPr>
            <a:r>
              <a:t>LAPORAN ANALISIS SENTIMEN ULASAN</a:t>
            </a:r>
          </a:p>
          <a:p>
            <a:pPr>
              <a:spcBef>
                <a:spcPts val="800"/>
              </a:spcBef>
              <a:defRPr sz="5000" b="1">
                <a:solidFill>
                  <a:srgbClr val="FFFFFF"/>
                </a:solidFill>
                <a:latin typeface="Segoe UI"/>
              </a:defRPr>
            </a:pPr>
            <a:r>
              <a:t>EdLink</a:t>
            </a:r>
          </a:p>
          <a:p>
            <a:pPr>
              <a:spcBef>
                <a:spcPts val="800"/>
              </a:spcBef>
              <a:defRPr sz="1500">
                <a:solidFill>
                  <a:srgbClr val="94A3B8"/>
                </a:solidFill>
                <a:latin typeface="Segoe UI"/>
              </a:defRPr>
            </a:pPr>
            <a:r>
              <a:t>Analisis Sentimen &amp; Ringkasan Insight Ulasan Pengguna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3383280"/>
            <a:ext cx="5943600" cy="20116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566160"/>
            <a:ext cx="5486400" cy="16459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64748B"/>
                </a:solidFill>
                <a:latin typeface="Segoe UI"/>
              </a:defRPr>
            </a:pPr>
            <a:r>
              <a:t>DETAIL LAPORAN</a:t>
            </a:r>
          </a:p>
          <a:p>
            <a:pPr>
              <a:defRPr sz="1100">
                <a:solidFill>
                  <a:srgbClr val="E2E8F0"/>
                </a:solidFill>
                <a:latin typeface="Segoe UI"/>
              </a:defRPr>
            </a:pPr>
            <a:r>
              <a:t>• Periode Data: 2017-02-23 s/d 2026-06-15</a:t>
            </a:r>
          </a:p>
          <a:p>
            <a:pPr>
              <a:spcBef>
                <a:spcPts val="400"/>
              </a:spcBef>
              <a:defRPr sz="1100" b="1">
                <a:solidFill>
                  <a:srgbClr val="38BDF8"/>
                </a:solidFill>
                <a:latin typeface="Segoe UI"/>
              </a:defRPr>
            </a:pPr>
            <a:r>
              <a:t>• Total Ulasan: 2,667 ulasan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Tanggal Terbit: 23 June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852160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CaRI Sentimen ID  |  Powered by BERTopic, IndoBERT &amp; LLM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Ringkasan Eksekutif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4748B"/>
                </a:solidFill>
                <a:latin typeface="Segoe UI"/>
              </a:defRPr>
            </a:pPr>
            <a:r>
              <a:t>Laporan Analisis Sentimen Ulasan | CaRI Sentimen ID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1148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463040"/>
            <a:ext cx="137160" cy="100584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554480"/>
            <a:ext cx="3749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718096"/>
                </a:solidFill>
                <a:latin typeface="Segoe UI"/>
              </a:defRPr>
            </a:pPr>
            <a:r>
              <a:t>TOTAL ULASAN</a:t>
            </a:r>
          </a:p>
          <a:p>
            <a:pPr>
              <a:defRPr sz="2800" b="1">
                <a:solidFill>
                  <a:srgbClr val="2B6CB0"/>
                </a:solidFill>
                <a:latin typeface="Segoe UI"/>
              </a:defRPr>
            </a:pPr>
            <a:r>
              <a:t>2,667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651760"/>
            <a:ext cx="41148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651760"/>
            <a:ext cx="137160" cy="1005840"/>
          </a:xfrm>
          <a:prstGeom prst="rect">
            <a:avLst/>
          </a:prstGeom>
          <a:solidFill>
            <a:srgbClr val="2F8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743200"/>
            <a:ext cx="3749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718096"/>
                </a:solidFill>
                <a:latin typeface="Segoe UI"/>
              </a:defRPr>
            </a:pPr>
            <a:r>
              <a:t>TINGKAT KEPUASAN (POSITIF)</a:t>
            </a:r>
          </a:p>
          <a:p>
            <a:pPr>
              <a:defRPr sz="2800" b="1">
                <a:solidFill>
                  <a:srgbClr val="2F855A"/>
                </a:solidFill>
                <a:latin typeface="Segoe UI"/>
              </a:defRPr>
            </a:pPr>
            <a:r>
              <a:t>47.17%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41148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3840480"/>
            <a:ext cx="137160" cy="1005840"/>
          </a:xfrm>
          <a:prstGeom prst="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931920"/>
            <a:ext cx="3749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718096"/>
                </a:solidFill>
                <a:latin typeface="Segoe UI"/>
              </a:defRPr>
            </a:pPr>
            <a:r>
              <a:t>RASIO KOMPLAIN (NEGATIF)</a:t>
            </a:r>
          </a:p>
          <a:p>
            <a:pPr>
              <a:defRPr sz="2800" b="1">
                <a:solidFill>
                  <a:srgbClr val="C53030"/>
                </a:solidFill>
                <a:latin typeface="Segoe UI"/>
              </a:defRPr>
            </a:pPr>
            <a:r>
              <a:t>42.56%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029200"/>
            <a:ext cx="41148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5029200"/>
            <a:ext cx="137160" cy="1005840"/>
          </a:xfrm>
          <a:prstGeom prst="rect">
            <a:avLst/>
          </a:prstGeom>
          <a:solidFill>
            <a:srgbClr val="4A55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120640"/>
            <a:ext cx="3749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718096"/>
                </a:solidFill>
                <a:latin typeface="Segoe UI"/>
              </a:defRPr>
            </a:pPr>
            <a:r>
              <a:t>TINGKAT AKURASI AI</a:t>
            </a:r>
          </a:p>
          <a:p>
            <a:pPr>
              <a:defRPr sz="2800" b="1">
                <a:solidFill>
                  <a:srgbClr val="4A5568"/>
                </a:solidFill>
                <a:latin typeface="Segoe UI"/>
              </a:defRPr>
            </a:pPr>
            <a:r>
              <a:t>98.43%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1463040"/>
            <a:ext cx="6217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E293B"/>
                </a:solidFill>
                <a:latin typeface="Segoe UI"/>
              </a:defRPr>
            </a:pPr>
            <a:r>
              <a:t>Insight Utama &amp; Pola Sentimen:</a:t>
            </a:r>
          </a:p>
          <a:p>
            <a:pPr>
              <a:spcAft>
                <a:spcPts val="1200"/>
              </a:spcAft>
              <a:defRPr sz="1300">
                <a:solidFill>
                  <a:srgbClr val="4A5568"/>
                </a:solidFill>
                <a:latin typeface="Segoe UI"/>
              </a:defRPr>
            </a:pPr>
            <a:r>
              <a:t>• Analisis ini mencakup 2.667 ulasan yang dikumpulkan antara 23 Februari 2017 hingga 15 Juni 2026. Distribusi sentimen menunjukkan polarisasi yang tajam: 47,17% positif (1.258 ulasan) dan 42,56% negatif (1.135 ulasan), dengan sisanya netral. Terdapat polarisasi ekstrem pada rating; pengguna cenderung memberikan rating 5 bintang (1.014 ulasan) atau 1 bintang (875 ulasan), yang mengindikasikan pengalaman pengguna yang sangat kontras antara kepuasan tinggi dan frustrasi mendalam. Model klasifikasi sentimen memiliki tingkat kepercayaan yang sangat tinggi dengan overall_confident_rate sebesar 98,54%.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Distribusi Sentimen &amp; Rating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4748B"/>
                </a:solidFill>
                <a:latin typeface="Segoe UI"/>
              </a:defRPr>
            </a:pPr>
            <a:r>
              <a:t>Laporan Analisis Sentimen Ulasan | CaRI Sentimen ID</a:t>
            </a:r>
          </a:p>
        </p:txBody>
      </p:sp>
      <p:pic>
        <p:nvPicPr>
          <p:cNvPr id="6" name="Picture 5" descr="01_sentiment_distribution_p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65960"/>
            <a:ext cx="5029200" cy="2926080"/>
          </a:xfrm>
          <a:prstGeom prst="rect">
            <a:avLst/>
          </a:prstGeom>
        </p:spPr>
      </p:pic>
      <p:pic>
        <p:nvPicPr>
          <p:cNvPr id="7" name="Picture 6" descr="02_rating_distribution_ra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965960"/>
            <a:ext cx="5029200" cy="2926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4864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4A5568"/>
                </a:solidFill>
                <a:latin typeface="Segoe UI"/>
              </a:defRPr>
            </a:pPr>
            <a:r>
              <a:t>Catatan Visual: Proporsi sentimen ulasan didominasi oleh rating Bintang 5 sebesar 38.02% (1,014 ulasan), yang mengindikasikan tingkat kepuasan/apresiasi utama yang tinggi dari pengguna. Sementara itu, rasio ketidakpuasan atau komplain minor (Bintang 1 &amp; 2) menyumbang sekitar 42.56% (1,135 ulasan) dari total ulasan.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Kategori Sentimen Negatif &amp; Keluhan Utama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4748B"/>
                </a:solidFill>
                <a:latin typeface="Segoe UI"/>
              </a:defRPr>
            </a:pPr>
            <a:r>
              <a:t>Laporan Analisis Sentimen Ulasan | CaRI Sentimen ID</a:t>
            </a:r>
          </a:p>
        </p:txBody>
      </p:sp>
      <p:pic>
        <p:nvPicPr>
          <p:cNvPr id="6" name="Picture 5" descr="03_top_negative_catego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65960"/>
            <a:ext cx="5029200" cy="2926080"/>
          </a:xfrm>
          <a:prstGeom prst="rect">
            <a:avLst/>
          </a:prstGeom>
        </p:spPr>
      </p:pic>
      <p:pic>
        <p:nvPicPr>
          <p:cNvPr id="7" name="Picture 6" descr="06_top_negative_topi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965960"/>
            <a:ext cx="5029200" cy="2926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4864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4A5568"/>
                </a:solidFill>
                <a:latin typeface="Segoe UI"/>
              </a:defRPr>
            </a:pPr>
            <a:r>
              <a:t>Analisis Keluhan: Kategori Masalah Notifikasi dan Akses (Notifikasi tidak muncul dan kendala akses akun pengguna) dengan 169 ulasan &amp; Kategori Kualitas Aplikasi Umum (Performa aplikasi buruk dan tidak responsif) dengan 117 ulasan mendominasi volume sentimen negatif.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Kinerja CS &amp; Penanganan Keluhan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4748B"/>
                </a:solidFill>
                <a:latin typeface="Segoe UI"/>
              </a:defRPr>
            </a:pPr>
            <a:r>
              <a:t>Laporan Analisis Sentimen Ulasan | CaRI Sentimen ID</a:t>
            </a:r>
          </a:p>
        </p:txBody>
      </p:sp>
      <p:pic>
        <p:nvPicPr>
          <p:cNvPr id="6" name="Picture 5" descr="09_cs_reply_r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65960"/>
            <a:ext cx="5029200" cy="2926080"/>
          </a:xfrm>
          <a:prstGeom prst="rect">
            <a:avLst/>
          </a:prstGeom>
        </p:spPr>
      </p:pic>
      <p:pic>
        <p:nvPicPr>
          <p:cNvPr id="7" name="Picture 6" descr="10_cs_reply_de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965960"/>
            <a:ext cx="5029200" cy="2926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4864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4A5568"/>
                </a:solidFill>
                <a:latin typeface="Segoe UI"/>
              </a:defRPr>
            </a:pPr>
            <a:r>
              <a:t>Evaluasi CS: Rata-rata reply rate penanganan keluhan adalah 98.0%. Median delay tanggapan berkisar antara 18.23 - 483.03 jam. Penanganan diarahkan dengan rata-rata pengalihan kontak bantuan/layanan admin sebesar 60.7%.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