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0"/>
            <a:ext cx="36576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3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01752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601200" cy="20116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500" b="1">
                <a:solidFill>
                  <a:srgbClr val="F472B6"/>
                </a:solidFill>
                <a:latin typeface="Segoe UI"/>
              </a:defRPr>
            </a:pPr>
            <a:r>
              <a:t>LAPORAN ANALISIS SENTIMEN TIKTOK</a:t>
            </a:r>
          </a:p>
          <a:p>
            <a:pPr>
              <a:spcBef>
                <a:spcPts val="800"/>
              </a:spcBef>
              <a:defRPr sz="5000" b="1">
                <a:solidFill>
                  <a:srgbClr val="FFFFFF"/>
                </a:solidFill>
                <a:latin typeface="Segoe UI"/>
              </a:defRPr>
            </a:pPr>
            <a:r>
              <a:t>TikTok - Universitas Siber Asia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Analisis Sentimen &amp; Ringkasan Insight Engagement TikTok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83280"/>
            <a:ext cx="5943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548640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t>DETAIL LAPORAN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Periode Data: - s/d -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• Total Interaksi: 4,925 komentar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Tanggal Terbit: 01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CaRI Sentimen ID  |  Powered by BERTopic, IndoBERT &amp;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005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TOTAL KOMENTAR</a:t>
            </a:r>
          </a:p>
          <a:p>
            <a:pPr>
              <a:defRPr sz="2800" b="1">
                <a:solidFill>
                  <a:srgbClr val="EC4899"/>
                </a:solidFill>
                <a:latin typeface="Segoe UI"/>
              </a:defRPr>
            </a:pPr>
            <a:r>
              <a:t>4,925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37160" cy="10058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DUKUNGAN POSITIF</a:t>
            </a:r>
          </a:p>
          <a:p>
            <a:pPr>
              <a:defRPr sz="2800" b="1">
                <a:solidFill>
                  <a:srgbClr val="2F855A"/>
                </a:solidFill>
                <a:latin typeface="Segoe UI"/>
              </a:defRPr>
            </a:pPr>
            <a:r>
              <a:t>32.71%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37160" cy="10058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KOMPLAIN NEGATIF</a:t>
            </a:r>
          </a:p>
          <a:p>
            <a:pPr>
              <a:defRPr sz="2800" b="1">
                <a:solidFill>
                  <a:srgbClr val="C53030"/>
                </a:solidFill>
                <a:latin typeface="Segoe UI"/>
              </a:defRPr>
            </a:pPr>
            <a:r>
              <a:t>1.85%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4114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37160" cy="10058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18096"/>
                </a:solidFill>
                <a:latin typeface="Segoe UI"/>
              </a:defRPr>
            </a:pPr>
            <a:r>
              <a:t>RASIO NETRAL</a:t>
            </a:r>
          </a:p>
          <a:p>
            <a:pPr>
              <a:defRPr sz="2800" b="1">
                <a:solidFill>
                  <a:srgbClr val="4A5568"/>
                </a:solidFill>
                <a:latin typeface="Segoe UI"/>
              </a:defRPr>
            </a:pPr>
            <a:r>
              <a:t>65.44%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6304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Segoe UI"/>
              </a:defRPr>
            </a:pPr>
            <a:r>
              <a:t>Insight Utama &amp; Pola Interaksi: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Berikut adalah laporan analisis data sentimen untuk akun TikTok Universitas Siber Asia: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1. Ringkasan Sentimen &amp; Interaksi (Overview)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Akun TikTok Universitas Siber Asia menerima total 4.925 komentar dengan distribusi sentimen sebagai berikut: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Segoe UI"/>
              </a:defRPr>
            </a:pPr>
            <a:r>
              <a:t>• Netral: 3.223 komentar (65,44%)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Distribusi Sentimen &amp; Topik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pic>
        <p:nvPicPr>
          <p:cNvPr id="6" name="Picture 5" descr="01_tikto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2_tiktok_topic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Catatan Visual: Proporsi sentimen ulasan mencerminkan dukungan positif sebesar 32.71% (1,611 komentar). Topik dominan dipetakan dalam distribusi kategori.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Topik Viral &amp; Tren Engagement Bulanan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pic>
        <p:nvPicPr>
          <p:cNvPr id="6" name="Picture 5" descr="04_tiktok_month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3_tiktok_engagement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Analisis Interaksi: Tren volume komentar bulanan (kiri) menunjukkan momen puncak interaksi. Engagement Score (kanan) mengidentifikasi topik mana yang mendapatkan likes terbanyak dan potensi viral.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Performa Video Terpopuler (Views vs Komentar)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37160" cy="12801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630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18096"/>
                </a:solidFill>
                <a:latin typeface="Segoe UI"/>
              </a:defRPr>
            </a:pPr>
            <a:r>
              <a:t>TOTAL VIDEO</a:t>
            </a:r>
          </a:p>
          <a:p>
            <a:pPr>
              <a:defRPr sz="3000" b="1">
                <a:solidFill>
                  <a:srgbClr val="EC4899"/>
                </a:solidFill>
                <a:latin typeface="Segoe UI"/>
              </a:defRPr>
            </a:pPr>
            <a:r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37160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18096"/>
                </a:solidFill>
                <a:latin typeface="Segoe UI"/>
              </a:defRPr>
            </a:pPr>
            <a:r>
              <a:t>TOTAL VIEWS</a:t>
            </a:r>
          </a:p>
          <a:p>
            <a:pPr>
              <a:defRPr sz="3000" b="1">
                <a:solidFill>
                  <a:srgbClr val="8B5CF6"/>
                </a:solidFill>
                <a:latin typeface="Segoe UI"/>
              </a:defRPr>
            </a:pPr>
            <a:r>
              <a:t>4.5M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3291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37160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6634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18096"/>
                </a:solidFill>
                <a:latin typeface="Segoe UI"/>
              </a:defRPr>
            </a:pPr>
            <a:r>
              <a:t>AVG VIEWS/VIDEO</a:t>
            </a:r>
          </a:p>
          <a:p>
            <a:pPr>
              <a:defRPr sz="3000" b="1">
                <a:solidFill>
                  <a:srgbClr val="06B6D4"/>
                </a:solidFill>
                <a:latin typeface="Segoe UI"/>
              </a:defRPr>
            </a:pPr>
            <a:r>
              <a:t>21K</a:t>
            </a:r>
          </a:p>
        </p:txBody>
      </p:sp>
      <p:pic>
        <p:nvPicPr>
          <p:cNvPr id="15" name="Picture 14" descr="08_tiktok_top_vide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80160"/>
            <a:ext cx="7498079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5568"/>
                </a:solidFill>
                <a:latin typeface="Segoe UI"/>
              </a:defRPr>
            </a:pPr>
            <a:r>
              <a:t>Chart di atas membandingkan jumlah views (hijau) vs jumlah komentar (kuning) untuk 5 video terpopuler. Video dengan views tinggi namun komentar rendah mengindikasikan konten pasif — pertimbangkan penambahan CTA untuk meningkatkan keterlibatan audiens.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Deteksi Anomali Spikes &amp; Reply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pic>
        <p:nvPicPr>
          <p:cNvPr id="6" name="Picture 5" descr="06_tiktok_spik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5029200" cy="2926080"/>
          </a:xfrm>
          <a:prstGeom prst="rect">
            <a:avLst/>
          </a:prstGeom>
        </p:spPr>
      </p:pic>
      <p:pic>
        <p:nvPicPr>
          <p:cNvPr id="7" name="Picture 6" descr="05_tiktok_reply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A5568"/>
                </a:solidFill>
                <a:latin typeface="Segoe UI"/>
              </a:defRPr>
            </a:pPr>
            <a:r>
              <a:t>Kesenjangan (Reply Gap) mengindikasikan admin sering tidak merespons komentar viral, sehingga dapat menyebabkan misinformasi jika tidak dimitigasi. Spikes harian membantu deteksi krisis lebih cepat.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Peta Visual Kata Kunci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Laporan Analisis Sentimen TikTok | CaRI Sentimen ID</a:t>
            </a:r>
          </a:p>
        </p:txBody>
      </p:sp>
      <p:pic>
        <p:nvPicPr>
          <p:cNvPr id="6" name="Picture 5" descr="07_tiktok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