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0"/>
            <a:ext cx="73152" cy="6858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" y="0"/>
            <a:ext cx="36576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0" y="3657600"/>
            <a:ext cx="5486400" cy="5486400"/>
          </a:xfrm>
          <a:prstGeom prst="ellipse">
            <a:avLst/>
          </a:prstGeom>
          <a:solidFill>
            <a:srgbClr val="13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3017520"/>
            <a:ext cx="2286000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914400"/>
            <a:ext cx="9601200" cy="20116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1500" b="1">
                <a:solidFill>
                  <a:srgbClr val="F472B6"/>
                </a:solidFill>
                <a:latin typeface="Segoe UI"/>
              </a:defRPr>
            </a:pPr>
            <a:r>
              <a:t>LAPORAN ANALISIS SENTIMEN TIKTOK</a:t>
            </a:r>
          </a:p>
          <a:p>
            <a:pPr>
              <a:spcBef>
                <a:spcPts val="800"/>
              </a:spcBef>
              <a:defRPr sz="5000" b="1">
                <a:solidFill>
                  <a:srgbClr val="FFFFFF"/>
                </a:solidFill>
                <a:latin typeface="Segoe UI"/>
              </a:defRPr>
            </a:pPr>
            <a:r>
              <a:t>TikTok - Universitas Siber Asia</a:t>
            </a:r>
          </a:p>
          <a:p>
            <a:pPr>
              <a:spcBef>
                <a:spcPts val="800"/>
              </a:spcBef>
              <a:defRPr sz="1500">
                <a:solidFill>
                  <a:srgbClr val="94A3B8"/>
                </a:solidFill>
                <a:latin typeface="Segoe UI"/>
              </a:defRPr>
            </a:pPr>
            <a:r>
              <a:t>Analisis Sentimen &amp; Ringkasan Insight Engagement TikTok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3383280"/>
            <a:ext cx="5943600" cy="2011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566160"/>
            <a:ext cx="5486400" cy="16459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64748B"/>
                </a:solidFill>
                <a:latin typeface="Segoe UI"/>
              </a:defRPr>
            </a:pPr>
            <a:r>
              <a:t>DETAIL LAPORAN</a:t>
            </a:r>
          </a:p>
          <a:p>
            <a:pPr>
              <a:defRPr sz="1100">
                <a:solidFill>
                  <a:srgbClr val="E2E8F0"/>
                </a:solidFill>
                <a:latin typeface="Segoe UI"/>
              </a:defRPr>
            </a:pPr>
            <a:r>
              <a:t>• Periode Data: - s/d -</a:t>
            </a:r>
          </a:p>
          <a:p>
            <a:pPr>
              <a:spcBef>
                <a:spcPts val="4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• Total Interaksi: 4,925 komentar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Tanggal Terbit: 01 July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85216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CaRI Sentimen ID  |  Powered by BERTopic, IndoBERT &amp; LLM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Ringkasan Eksekutif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4748B"/>
                </a:solidFill>
                <a:latin typeface="Segoe UI"/>
              </a:defRPr>
            </a:pPr>
            <a:r>
              <a:t>Laporan Analisis Sentimen TikTok | CaRI Sentimen 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1148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137160" cy="10058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554480"/>
            <a:ext cx="3749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718096"/>
                </a:solidFill>
                <a:latin typeface="Segoe UI"/>
              </a:defRPr>
            </a:pPr>
            <a:r>
              <a:t>TOTAL KOMENTAR</a:t>
            </a:r>
          </a:p>
          <a:p>
            <a:pPr>
              <a:defRPr sz="2800" b="1">
                <a:solidFill>
                  <a:srgbClr val="EC4899"/>
                </a:solidFill>
                <a:latin typeface="Segoe UI"/>
              </a:defRPr>
            </a:pPr>
            <a:r>
              <a:t>4,925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51760"/>
            <a:ext cx="41148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651760"/>
            <a:ext cx="137160" cy="1005840"/>
          </a:xfrm>
          <a:prstGeom prst="rect">
            <a:avLst/>
          </a:prstGeom>
          <a:solidFill>
            <a:srgbClr val="2F8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743200"/>
            <a:ext cx="3749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718096"/>
                </a:solidFill>
                <a:latin typeface="Segoe UI"/>
              </a:defRPr>
            </a:pPr>
            <a:r>
              <a:t>DUKUNGAN POSITIF</a:t>
            </a:r>
          </a:p>
          <a:p>
            <a:pPr>
              <a:defRPr sz="2800" b="1">
                <a:solidFill>
                  <a:srgbClr val="2F855A"/>
                </a:solidFill>
                <a:latin typeface="Segoe UI"/>
              </a:defRPr>
            </a:pPr>
            <a:r>
              <a:t>32.71%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41148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840480"/>
            <a:ext cx="137160" cy="1005840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931920"/>
            <a:ext cx="3749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718096"/>
                </a:solidFill>
                <a:latin typeface="Segoe UI"/>
              </a:defRPr>
            </a:pPr>
            <a:r>
              <a:t>KOMPLAIN NEGATIF</a:t>
            </a:r>
          </a:p>
          <a:p>
            <a:pPr>
              <a:defRPr sz="2800" b="1">
                <a:solidFill>
                  <a:srgbClr val="C53030"/>
                </a:solidFill>
                <a:latin typeface="Segoe UI"/>
              </a:defRPr>
            </a:pPr>
            <a:r>
              <a:t>1.85%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029200"/>
            <a:ext cx="41148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5029200"/>
            <a:ext cx="137160" cy="1005840"/>
          </a:xfrm>
          <a:prstGeom prst="rect">
            <a:avLst/>
          </a:prstGeom>
          <a:solidFill>
            <a:srgbClr val="4A55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120640"/>
            <a:ext cx="3749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718096"/>
                </a:solidFill>
                <a:latin typeface="Segoe UI"/>
              </a:defRPr>
            </a:pPr>
            <a:r>
              <a:t>RASIO NETRAL</a:t>
            </a:r>
          </a:p>
          <a:p>
            <a:pPr>
              <a:defRPr sz="2800" b="1">
                <a:solidFill>
                  <a:srgbClr val="4A5568"/>
                </a:solidFill>
                <a:latin typeface="Segoe UI"/>
              </a:defRPr>
            </a:pPr>
            <a:r>
              <a:t>65.44%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1463040"/>
            <a:ext cx="6217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E293B"/>
                </a:solidFill>
                <a:latin typeface="Segoe UI"/>
              </a:defRPr>
            </a:pPr>
            <a:r>
              <a:t>Insight Utama &amp; Pola Interaksi:</a:t>
            </a:r>
          </a:p>
          <a:p>
            <a:pPr>
              <a:spcAft>
                <a:spcPts val="1200"/>
              </a:spcAft>
              <a:defRPr sz="1300">
                <a:solidFill>
                  <a:srgbClr val="4A5568"/>
                </a:solidFill>
                <a:latin typeface="Segoe UI"/>
              </a:defRPr>
            </a:pPr>
            <a:r>
              <a:t>• Berikut adalah laporan analisis data sentimen akun TikTok Universitas Siber Asia (UNSIA):</a:t>
            </a:r>
          </a:p>
          <a:p>
            <a:pPr>
              <a:spcAft>
                <a:spcPts val="1200"/>
              </a:spcAft>
              <a:defRPr sz="1300">
                <a:solidFill>
                  <a:srgbClr val="4A5568"/>
                </a:solidFill>
                <a:latin typeface="Segoe UI"/>
              </a:defRPr>
            </a:pPr>
            <a:r>
              <a:t>• 1. Ringkasan Sentimen &amp; Interaksi (Overview)</a:t>
            </a:r>
          </a:p>
          <a:p>
            <a:pPr>
              <a:spcAft>
                <a:spcPts val="1200"/>
              </a:spcAft>
              <a:defRPr sz="1300">
                <a:solidFill>
                  <a:srgbClr val="4A5568"/>
                </a:solidFill>
                <a:latin typeface="Segoe UI"/>
              </a:defRPr>
            </a:pPr>
            <a:r>
              <a:t>• Dari total 4.925 komentar yang dianalisis, distribusi sentimen didominasi oleh kategori Netral (65,44%), diikuti oleh Positif (32,71%), dan Negatif (1,85%).</a:t>
            </a:r>
          </a:p>
          <a:p>
            <a:pPr>
              <a:spcAft>
                <a:spcPts val="1200"/>
              </a:spcAft>
              <a:defRPr sz="1300">
                <a:solidFill>
                  <a:srgbClr val="4A5568"/>
                </a:solidFill>
                <a:latin typeface="Segoe UI"/>
              </a:defRPr>
            </a:pPr>
            <a:r>
              <a:t>• Netral: 3.223 komentar (1.974 likes, rata-rata 0,61 like/komentar).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Distribusi Sentimen &amp; Topik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4748B"/>
                </a:solidFill>
                <a:latin typeface="Segoe UI"/>
              </a:defRPr>
            </a:pPr>
            <a:r>
              <a:t>Laporan Analisis Sentimen TikTok | CaRI Sentimen ID</a:t>
            </a:r>
          </a:p>
        </p:txBody>
      </p:sp>
      <p:pic>
        <p:nvPicPr>
          <p:cNvPr id="6" name="Picture 5" descr="01_tiktok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65960"/>
            <a:ext cx="5029200" cy="2926080"/>
          </a:xfrm>
          <a:prstGeom prst="rect">
            <a:avLst/>
          </a:prstGeom>
        </p:spPr>
      </p:pic>
      <p:pic>
        <p:nvPicPr>
          <p:cNvPr id="7" name="Picture 6" descr="02_tiktok_topic_analys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965960"/>
            <a:ext cx="5029200" cy="2926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4864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4A5568"/>
                </a:solidFill>
                <a:latin typeface="Segoe UI"/>
              </a:defRPr>
            </a:pPr>
            <a:r>
              <a:t>Catatan Visual: Proporsi sentimen ulasan mencerminkan dukungan positif sebesar 32.71% (1,611 komentar). Topik dominan dipetakan dalam distribusi kategori.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Topik Viral &amp; Tren Engagement Bulanan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4748B"/>
                </a:solidFill>
                <a:latin typeface="Segoe UI"/>
              </a:defRPr>
            </a:pPr>
            <a:r>
              <a:t>Laporan Analisis Sentimen TikTok | CaRI Sentimen ID</a:t>
            </a:r>
          </a:p>
        </p:txBody>
      </p:sp>
      <p:pic>
        <p:nvPicPr>
          <p:cNvPr id="6" name="Picture 5" descr="04_tiktok_monthly_tre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65960"/>
            <a:ext cx="5029200" cy="2926080"/>
          </a:xfrm>
          <a:prstGeom prst="rect">
            <a:avLst/>
          </a:prstGeom>
        </p:spPr>
      </p:pic>
      <p:pic>
        <p:nvPicPr>
          <p:cNvPr id="7" name="Picture 6" descr="03_tiktok_engagement_sc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965960"/>
            <a:ext cx="5029200" cy="2926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4864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4A5568"/>
                </a:solidFill>
                <a:latin typeface="Segoe UI"/>
              </a:defRPr>
            </a:pPr>
            <a:r>
              <a:t>Analisis Interaksi: Tren volume komentar bulanan (kiri) menunjukkan momen puncak interaksi. Engagement Score (kanan) mengidentifikasi topik mana yang mendapatkan likes terbanyak dan potensi viral.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Performa Video Terpopuler (Views vs Komentar)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4748B"/>
                </a:solidFill>
                <a:latin typeface="Segoe UI"/>
              </a:defRPr>
            </a:pPr>
            <a:r>
              <a:t>Laporan Analisis Sentimen TikTok | CaRI Sentimen 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84048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137160" cy="12801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463040"/>
            <a:ext cx="3520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18096"/>
                </a:solidFill>
                <a:latin typeface="Segoe UI"/>
              </a:defRPr>
            </a:pPr>
            <a:r>
              <a:t>TOTAL VIDEO</a:t>
            </a:r>
          </a:p>
          <a:p>
            <a:pPr>
              <a:defRPr sz="3000" b="1">
                <a:solidFill>
                  <a:srgbClr val="EC4899"/>
                </a:solidFill>
                <a:latin typeface="Segoe UI"/>
              </a:defRPr>
            </a:pPr>
            <a:r>
              <a:t>211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971800"/>
            <a:ext cx="384048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971800"/>
            <a:ext cx="137160" cy="12801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3063240"/>
            <a:ext cx="3520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18096"/>
                </a:solidFill>
                <a:latin typeface="Segoe UI"/>
              </a:defRPr>
            </a:pPr>
            <a:r>
              <a:t>TOTAL VIEWS</a:t>
            </a:r>
          </a:p>
          <a:p>
            <a:pPr>
              <a:defRPr sz="3000" b="1">
                <a:solidFill>
                  <a:srgbClr val="8B5CF6"/>
                </a:solidFill>
                <a:latin typeface="Segoe UI"/>
              </a:defRPr>
            </a:pPr>
            <a:r>
              <a:t>4.5M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72000"/>
            <a:ext cx="384048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4572000"/>
            <a:ext cx="137160" cy="12801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4663440"/>
            <a:ext cx="3520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18096"/>
                </a:solidFill>
                <a:latin typeface="Segoe UI"/>
              </a:defRPr>
            </a:pPr>
            <a:r>
              <a:t>AVG VIEWS/VIDEO</a:t>
            </a:r>
          </a:p>
          <a:p>
            <a:pPr>
              <a:defRPr sz="3000" b="1">
                <a:solidFill>
                  <a:srgbClr val="06B6D4"/>
                </a:solidFill>
                <a:latin typeface="Segoe UI"/>
              </a:defRPr>
            </a:pPr>
            <a:r>
              <a:t>21K</a:t>
            </a:r>
          </a:p>
        </p:txBody>
      </p:sp>
      <p:pic>
        <p:nvPicPr>
          <p:cNvPr id="15" name="Picture 14" descr="08_tiktok_top_vide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80160"/>
            <a:ext cx="6858000" cy="43891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48640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4A5568"/>
                </a:solidFill>
                <a:latin typeface="Segoe UI"/>
              </a:defRPr>
            </a:pPr>
            <a:r>
              <a:t>Chart di atas membandingkan jumlah views (hijau) vs jumlah komentar (kuning) untuk 5 video terpopuler. Video dengan views tinggi namun komentar rendah mengindikasikan konten pasif — pertimbangkan penambahan CTA untuk meningkatkan keterlibatan audiens.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Deteksi Anomali Spikes &amp; Reply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4748B"/>
                </a:solidFill>
                <a:latin typeface="Segoe UI"/>
              </a:defRPr>
            </a:pPr>
            <a:r>
              <a:t>Laporan Analisis Sentimen TikTok | CaRI Sentimen ID</a:t>
            </a:r>
          </a:p>
        </p:txBody>
      </p:sp>
      <p:pic>
        <p:nvPicPr>
          <p:cNvPr id="6" name="Picture 5" descr="06_tiktok_spike_de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65960"/>
            <a:ext cx="5029200" cy="2926080"/>
          </a:xfrm>
          <a:prstGeom prst="rect">
            <a:avLst/>
          </a:prstGeom>
        </p:spPr>
      </p:pic>
      <p:pic>
        <p:nvPicPr>
          <p:cNvPr id="7" name="Picture 6" descr="05_tiktok_reply_g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965960"/>
            <a:ext cx="5029200" cy="2926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4864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4A5568"/>
                </a:solidFill>
                <a:latin typeface="Segoe UI"/>
              </a:defRPr>
            </a:pPr>
            <a:r>
              <a:t>Kesenjangan (Reply Gap) mengindikasikan admin sering tidak merespons komentar viral, sehingga dapat menyebabkan misinformasi jika tidak dimitigasi. Spikes harian membantu deteksi krisis lebih cepat.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Peta Visual Kata Kunci Utama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4748B"/>
                </a:solidFill>
                <a:latin typeface="Segoe UI"/>
              </a:defRPr>
            </a:pPr>
            <a:r>
              <a:t>Laporan Analisis Sentimen TikTok | CaRI Sentimen ID</a:t>
            </a:r>
          </a:p>
        </p:txBody>
      </p:sp>
      <p:pic>
        <p:nvPicPr>
          <p:cNvPr id="6" name="Picture 5" descr="07_tiktok_word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371600"/>
            <a:ext cx="5760720" cy="47548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