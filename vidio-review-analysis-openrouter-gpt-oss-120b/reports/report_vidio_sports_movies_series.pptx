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73152"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0"/>
            <a:ext cx="36576"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0" y="3657600"/>
            <a:ext cx="5486400" cy="5486400"/>
          </a:xfrm>
          <a:prstGeom prst="ellipse">
            <a:avLst/>
          </a:prstGeom>
          <a:solidFill>
            <a:srgbClr val="13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3017520"/>
            <a:ext cx="228600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914400"/>
            <a:ext cx="9601200" cy="2011680"/>
          </a:xfrm>
          <a:prstGeom prst="rect">
            <a:avLst/>
          </a:prstGeom>
          <a:noFill/>
        </p:spPr>
        <p:txBody>
          <a:bodyPr wrap="square" lIns="0" tIns="0" bIns="0" rIns="0">
            <a:spAutoFit/>
          </a:bodyPr>
          <a:lstStyle/>
          <a:p>
            <a:pPr>
              <a:defRPr sz="1500" b="1">
                <a:solidFill>
                  <a:srgbClr val="818CF8"/>
                </a:solidFill>
                <a:latin typeface="Segoe UI"/>
              </a:defRPr>
            </a:pPr>
            <a:r>
              <a:t>LAPORAN ANALISIS SENTIMEN ULASAN</a:t>
            </a:r>
          </a:p>
          <a:p>
            <a:pPr>
              <a:spcBef>
                <a:spcPts val="800"/>
              </a:spcBef>
              <a:defRPr sz="5000" b="1">
                <a:solidFill>
                  <a:srgbClr val="FFFFFF"/>
                </a:solidFill>
                <a:latin typeface="Segoe UI"/>
              </a:defRPr>
            </a:pPr>
            <a:r>
              <a:t>Vidio: Sports, Movies, Series</a:t>
            </a:r>
          </a:p>
          <a:p>
            <a:pPr>
              <a:spcBef>
                <a:spcPts val="800"/>
              </a:spcBef>
              <a:defRPr sz="1500">
                <a:solidFill>
                  <a:srgbClr val="94A3B8"/>
                </a:solidFill>
                <a:latin typeface="Segoe UI"/>
              </a:defRPr>
            </a:pPr>
            <a:r>
              <a:t>Analisis Sentimen &amp; Ringkasan Insight Ulasan Pengguna</a:t>
            </a:r>
          </a:p>
        </p:txBody>
      </p:sp>
      <p:sp>
        <p:nvSpPr>
          <p:cNvPr id="9" name="Rounded Rectangle 8"/>
          <p:cNvSpPr/>
          <p:nvPr/>
        </p:nvSpPr>
        <p:spPr>
          <a:xfrm>
            <a:off x="1097280" y="3383280"/>
            <a:ext cx="5943600" cy="2011680"/>
          </a:xfrm>
          <a:prstGeom prst="round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566160"/>
            <a:ext cx="5486400" cy="1645920"/>
          </a:xfrm>
          <a:prstGeom prst="rect">
            <a:avLst/>
          </a:prstGeom>
          <a:noFill/>
        </p:spPr>
        <p:txBody>
          <a:bodyPr wrap="square" lIns="0" tIns="0" bIns="0" rIns="0">
            <a:spAutoFit/>
          </a:bodyPr>
          <a:lstStyle/>
          <a:p>
            <a:pPr>
              <a:spcAft>
                <a:spcPts val="800"/>
              </a:spcAft>
              <a:defRPr sz="1100" b="1">
                <a:solidFill>
                  <a:srgbClr val="64748B"/>
                </a:solidFill>
                <a:latin typeface="Segoe UI"/>
              </a:defRPr>
            </a:pPr>
            <a:r>
              <a:t>DETAIL LAPORAN</a:t>
            </a:r>
          </a:p>
          <a:p>
            <a:pPr>
              <a:defRPr sz="1100">
                <a:solidFill>
                  <a:srgbClr val="E2E8F0"/>
                </a:solidFill>
                <a:latin typeface="Segoe UI"/>
              </a:defRPr>
            </a:pPr>
            <a:r>
              <a:t>• Periode Data: 2023-06-15 s/d 2026-06-15</a:t>
            </a:r>
          </a:p>
          <a:p>
            <a:pPr>
              <a:spcBef>
                <a:spcPts val="400"/>
              </a:spcBef>
              <a:defRPr sz="1100" b="1">
                <a:solidFill>
                  <a:srgbClr val="38BDF8"/>
                </a:solidFill>
                <a:latin typeface="Segoe UI"/>
              </a:defRPr>
            </a:pPr>
            <a:r>
              <a:t>• Total Ulasan: 37,661 ulasan</a:t>
            </a:r>
          </a:p>
          <a:p>
            <a:pPr>
              <a:spcBef>
                <a:spcPts val="400"/>
              </a:spcBef>
              <a:defRPr sz="1100">
                <a:solidFill>
                  <a:srgbClr val="E2E8F0"/>
                </a:solidFill>
                <a:latin typeface="Segoe UI"/>
              </a:defRPr>
            </a:pPr>
            <a:r>
              <a:t>• Tanggal Terbit: 25 June 2026</a:t>
            </a:r>
          </a:p>
        </p:txBody>
      </p:sp>
      <p:sp>
        <p:nvSpPr>
          <p:cNvPr id="11" name="TextBox 10"/>
          <p:cNvSpPr txBox="1"/>
          <p:nvPr/>
        </p:nvSpPr>
        <p:spPr>
          <a:xfrm>
            <a:off x="1097280" y="5852160"/>
            <a:ext cx="9601200" cy="457200"/>
          </a:xfrm>
          <a:prstGeom prst="rect">
            <a:avLst/>
          </a:prstGeom>
          <a:noFill/>
        </p:spPr>
        <p:txBody>
          <a:bodyPr wrap="none">
            <a:spAutoFit/>
          </a:bodyPr>
          <a:lstStyle/>
          <a:p>
            <a:pPr>
              <a:defRPr sz="1000">
                <a:solidFill>
                  <a:srgbClr val="475569"/>
                </a:solidFill>
                <a:latin typeface="Segoe UI"/>
              </a:defRPr>
            </a:pPr>
            <a:r>
              <a:t>CaRI Sentimen ID  |  Powered by BERTopic, IndoBERT &amp; 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2400" b="1">
                <a:solidFill>
                  <a:srgbClr val="FFFFFF"/>
                </a:solidFill>
                <a:latin typeface="Segoe UI"/>
              </a:defRPr>
            </a:pPr>
            <a:r>
              <a:t>Ringkasan Eksekutif</a:t>
            </a:r>
          </a:p>
        </p:txBody>
      </p:sp>
      <p:sp>
        <p:nvSpPr>
          <p:cNvPr id="5" name="TextBox 4"/>
          <p:cNvSpPr txBox="1"/>
          <p:nvPr/>
        </p:nvSpPr>
        <p:spPr>
          <a:xfrm>
            <a:off x="548640" y="6400800"/>
            <a:ext cx="11094415" cy="365760"/>
          </a:xfrm>
          <a:prstGeom prst="rect">
            <a:avLst/>
          </a:prstGeom>
          <a:noFill/>
        </p:spPr>
        <p:txBody>
          <a:bodyPr wrap="none">
            <a:spAutoFit/>
          </a:bodyPr>
          <a:lstStyle/>
          <a:p>
            <a:pPr>
              <a:defRPr sz="1000" i="1">
                <a:solidFill>
                  <a:srgbClr val="64748B"/>
                </a:solidFill>
                <a:latin typeface="Segoe UI"/>
              </a:defRPr>
            </a:pPr>
            <a:r>
              <a:t>Laporan Analisis Sentimen Ulasan | CaRI Sentimen ID</a:t>
            </a:r>
          </a:p>
        </p:txBody>
      </p:sp>
      <p:sp>
        <p:nvSpPr>
          <p:cNvPr id="6" name="Rounded Rectangle 5"/>
          <p:cNvSpPr/>
          <p:nvPr/>
        </p:nvSpPr>
        <p:spPr>
          <a:xfrm>
            <a:off x="731520" y="1463040"/>
            <a:ext cx="4114800" cy="1005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63040"/>
            <a:ext cx="137160" cy="10058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3749040" cy="822960"/>
          </a:xfrm>
          <a:prstGeom prst="rect">
            <a:avLst/>
          </a:prstGeom>
          <a:noFill/>
        </p:spPr>
        <p:txBody>
          <a:bodyPr wrap="square">
            <a:spAutoFit/>
          </a:bodyPr>
          <a:lstStyle/>
          <a:p>
            <a:pPr>
              <a:defRPr sz="1100" b="1">
                <a:solidFill>
                  <a:srgbClr val="718096"/>
                </a:solidFill>
                <a:latin typeface="Segoe UI"/>
              </a:defRPr>
            </a:pPr>
            <a:r>
              <a:t>TOTAL ULASAN</a:t>
            </a:r>
          </a:p>
          <a:p>
            <a:pPr>
              <a:defRPr sz="2800" b="1">
                <a:solidFill>
                  <a:srgbClr val="2B6CB0"/>
                </a:solidFill>
                <a:latin typeface="Segoe UI"/>
              </a:defRPr>
            </a:pPr>
            <a:r>
              <a:t>37,661</a:t>
            </a:r>
          </a:p>
        </p:txBody>
      </p:sp>
      <p:sp>
        <p:nvSpPr>
          <p:cNvPr id="9" name="Rounded Rectangle 8"/>
          <p:cNvSpPr/>
          <p:nvPr/>
        </p:nvSpPr>
        <p:spPr>
          <a:xfrm>
            <a:off x="731520" y="2651760"/>
            <a:ext cx="4114800" cy="1005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51760"/>
            <a:ext cx="137160" cy="1005840"/>
          </a:xfrm>
          <a:prstGeom prst="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743200"/>
            <a:ext cx="3749040" cy="822960"/>
          </a:xfrm>
          <a:prstGeom prst="rect">
            <a:avLst/>
          </a:prstGeom>
          <a:noFill/>
        </p:spPr>
        <p:txBody>
          <a:bodyPr wrap="square">
            <a:spAutoFit/>
          </a:bodyPr>
          <a:lstStyle/>
          <a:p>
            <a:pPr>
              <a:defRPr sz="1100" b="1">
                <a:solidFill>
                  <a:srgbClr val="718096"/>
                </a:solidFill>
                <a:latin typeface="Segoe UI"/>
              </a:defRPr>
            </a:pPr>
            <a:r>
              <a:t>TINGKAT KEPUASAN (POSITIF)</a:t>
            </a:r>
          </a:p>
          <a:p>
            <a:pPr>
              <a:defRPr sz="2800" b="1">
                <a:solidFill>
                  <a:srgbClr val="2F855A"/>
                </a:solidFill>
                <a:latin typeface="Segoe UI"/>
              </a:defRPr>
            </a:pPr>
            <a:r>
              <a:t>41.46%</a:t>
            </a:r>
          </a:p>
        </p:txBody>
      </p:sp>
      <p:sp>
        <p:nvSpPr>
          <p:cNvPr id="12" name="Rounded Rectangle 11"/>
          <p:cNvSpPr/>
          <p:nvPr/>
        </p:nvSpPr>
        <p:spPr>
          <a:xfrm>
            <a:off x="731520" y="3840480"/>
            <a:ext cx="4114800" cy="1005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840480"/>
            <a:ext cx="137160" cy="1005840"/>
          </a:xfrm>
          <a:prstGeom prst="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931920"/>
            <a:ext cx="3749040" cy="822960"/>
          </a:xfrm>
          <a:prstGeom prst="rect">
            <a:avLst/>
          </a:prstGeom>
          <a:noFill/>
        </p:spPr>
        <p:txBody>
          <a:bodyPr wrap="square">
            <a:spAutoFit/>
          </a:bodyPr>
          <a:lstStyle/>
          <a:p>
            <a:pPr>
              <a:defRPr sz="1100" b="1">
                <a:solidFill>
                  <a:srgbClr val="718096"/>
                </a:solidFill>
                <a:latin typeface="Segoe UI"/>
              </a:defRPr>
            </a:pPr>
            <a:r>
              <a:t>RASIO KOMPLAIN (NEGATIF)</a:t>
            </a:r>
          </a:p>
          <a:p>
            <a:pPr>
              <a:defRPr sz="2800" b="1">
                <a:solidFill>
                  <a:srgbClr val="C53030"/>
                </a:solidFill>
                <a:latin typeface="Segoe UI"/>
              </a:defRPr>
            </a:pPr>
            <a:r>
              <a:t>51.03%</a:t>
            </a:r>
          </a:p>
        </p:txBody>
      </p:sp>
      <p:sp>
        <p:nvSpPr>
          <p:cNvPr id="15" name="Rounded Rectangle 14"/>
          <p:cNvSpPr/>
          <p:nvPr/>
        </p:nvSpPr>
        <p:spPr>
          <a:xfrm>
            <a:off x="731520" y="5029200"/>
            <a:ext cx="4114800" cy="1005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029200"/>
            <a:ext cx="137160" cy="100584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120640"/>
            <a:ext cx="3749040" cy="822960"/>
          </a:xfrm>
          <a:prstGeom prst="rect">
            <a:avLst/>
          </a:prstGeom>
          <a:noFill/>
        </p:spPr>
        <p:txBody>
          <a:bodyPr wrap="square">
            <a:spAutoFit/>
          </a:bodyPr>
          <a:lstStyle/>
          <a:p>
            <a:pPr>
              <a:defRPr sz="1100" b="1">
                <a:solidFill>
                  <a:srgbClr val="718096"/>
                </a:solidFill>
                <a:latin typeface="Segoe UI"/>
              </a:defRPr>
            </a:pPr>
            <a:r>
              <a:t>TINGKAT AKURASI AI</a:t>
            </a:r>
          </a:p>
          <a:p>
            <a:pPr>
              <a:defRPr sz="2800" b="1">
                <a:solidFill>
                  <a:srgbClr val="4A5568"/>
                </a:solidFill>
                <a:latin typeface="Segoe UI"/>
              </a:defRPr>
            </a:pPr>
            <a:r>
              <a:t>97.2%</a:t>
            </a:r>
          </a:p>
        </p:txBody>
      </p:sp>
      <p:sp>
        <p:nvSpPr>
          <p:cNvPr id="18" name="TextBox 17"/>
          <p:cNvSpPr txBox="1"/>
          <p:nvPr/>
        </p:nvSpPr>
        <p:spPr>
          <a:xfrm>
            <a:off x="5303520" y="1463040"/>
            <a:ext cx="6217920" cy="4572000"/>
          </a:xfrm>
          <a:prstGeom prst="rect">
            <a:avLst/>
          </a:prstGeom>
          <a:noFill/>
        </p:spPr>
        <p:txBody>
          <a:bodyPr wrap="square">
            <a:spAutoFit/>
          </a:bodyPr>
          <a:lstStyle/>
          <a:p>
            <a:pPr>
              <a:spcAft>
                <a:spcPts val="1000"/>
              </a:spcAft>
              <a:defRPr sz="1600" b="1">
                <a:solidFill>
                  <a:srgbClr val="1E293B"/>
                </a:solidFill>
                <a:latin typeface="Segoe UI"/>
              </a:defRPr>
            </a:pPr>
            <a:r>
              <a:t>Insight Utama &amp; Pola Sentimen:</a:t>
            </a:r>
          </a:p>
          <a:p>
            <a:pPr>
              <a:spcAft>
                <a:spcPts val="1200"/>
              </a:spcAft>
              <a:defRPr sz="1300">
                <a:solidFill>
                  <a:srgbClr val="4A5568"/>
                </a:solidFill>
                <a:latin typeface="Segoe UI"/>
              </a:defRPr>
            </a:pPr>
            <a:r>
              <a:t>• Total ulasan: 37.661 (periode 15‑Jun‑2023 sd 15‑Jun‑2026).</a:t>
            </a:r>
          </a:p>
          <a:p>
            <a:pPr>
              <a:spcAft>
                <a:spcPts val="1200"/>
              </a:spcAft>
              <a:defRPr sz="1300">
                <a:solidFill>
                  <a:srgbClr val="4A5568"/>
                </a:solidFill>
                <a:latin typeface="Segoe UI"/>
              </a:defRPr>
            </a:pPr>
            <a:r>
              <a:t>• Distribusi sentimen</a:t>
            </a:r>
          </a:p>
          <a:p>
            <a:pPr>
              <a:spcAft>
                <a:spcPts val="1200"/>
              </a:spcAft>
              <a:defRPr sz="1300">
                <a:solidFill>
                  <a:srgbClr val="4A5568"/>
                </a:solidFill>
                <a:latin typeface="Segoe UI"/>
              </a:defRPr>
            </a:pPr>
            <a:r>
              <a:t>• Positif: 15.613 ulasan (41,46 %, rata‑rata skor 4,84)</a:t>
            </a:r>
          </a:p>
          <a:p>
            <a:pPr>
              <a:spcAft>
                <a:spcPts val="1200"/>
              </a:spcAft>
              <a:defRPr sz="1300">
                <a:solidFill>
                  <a:srgbClr val="4A5568"/>
                </a:solidFill>
                <a:latin typeface="Segoe UI"/>
              </a:defRPr>
            </a:pPr>
            <a:r>
              <a:t>• Negatif: 19.220 ulasan (51,03 %, rata‑rata skor 1,16)</a:t>
            </a:r>
          </a:p>
        </p:txBody>
      </p:sp>
      <p:sp>
        <p:nvSpPr>
          <p:cNvPr id="19" name="TextBox 18"/>
          <p:cNvSpPr txBox="1"/>
          <p:nvPr/>
        </p:nvSpPr>
        <p:spPr>
          <a:xfrm>
            <a:off x="731520" y="6126480"/>
            <a:ext cx="10698480" cy="320040"/>
          </a:xfrm>
          <a:prstGeom prst="rect">
            <a:avLst/>
          </a:prstGeom>
          <a:noFill/>
        </p:spPr>
        <p:txBody>
          <a:bodyPr wrap="square" lIns="0" tIns="0" bIns="0" rIns="0">
            <a:spAutoFit/>
          </a:bodyPr>
          <a:lstStyle/>
          <a:p>
            <a:pPr>
              <a:defRPr sz="850">
                <a:solidFill>
                  <a:srgbClr val="718096"/>
                </a:solidFill>
                <a:latin typeface="Segoe UI"/>
              </a:defRPr>
            </a:pPr>
            <a:r>
              <a:t>⚠️ Catatan Cakupan Data: Analisis ini hanya mencakup ulasan yang memiliki teks komentar. Ulasan dengan rating tanpa komentar tidak diikutsertakan, sehingga distribusi sentimen mencerminkan pengguna yang aktif memberikan pendapat dan dapat condong ke arah negatif dibanding populasi pengguna keseluruhan.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2400" b="1">
                <a:solidFill>
                  <a:srgbClr val="FFFFFF"/>
                </a:solidFill>
                <a:latin typeface="Segoe UI"/>
              </a:defRPr>
            </a:pPr>
            <a:r>
              <a:t>Distribusi Sentimen &amp; Rating</a:t>
            </a:r>
          </a:p>
        </p:txBody>
      </p:sp>
      <p:sp>
        <p:nvSpPr>
          <p:cNvPr id="5" name="TextBox 4"/>
          <p:cNvSpPr txBox="1"/>
          <p:nvPr/>
        </p:nvSpPr>
        <p:spPr>
          <a:xfrm>
            <a:off x="548640" y="6400800"/>
            <a:ext cx="11094415" cy="365760"/>
          </a:xfrm>
          <a:prstGeom prst="rect">
            <a:avLst/>
          </a:prstGeom>
          <a:noFill/>
        </p:spPr>
        <p:txBody>
          <a:bodyPr wrap="none">
            <a:spAutoFit/>
          </a:bodyPr>
          <a:lstStyle/>
          <a:p>
            <a:pPr>
              <a:defRPr sz="1000" i="1">
                <a:solidFill>
                  <a:srgbClr val="64748B"/>
                </a:solidFill>
                <a:latin typeface="Segoe UI"/>
              </a:defRPr>
            </a:pPr>
            <a:r>
              <a:t>Laporan Analisis Sentimen Ulasan | CaRI Sentimen ID</a:t>
            </a:r>
          </a:p>
        </p:txBody>
      </p:sp>
      <p:pic>
        <p:nvPicPr>
          <p:cNvPr id="6" name="Picture 5" descr="01_sentiment_distribution_pie.png"/>
          <p:cNvPicPr>
            <a:picLocks noChangeAspect="1"/>
          </p:cNvPicPr>
          <p:nvPr/>
        </p:nvPicPr>
        <p:blipFill>
          <a:blip r:embed="rId2"/>
          <a:stretch>
            <a:fillRect/>
          </a:stretch>
        </p:blipFill>
        <p:spPr>
          <a:xfrm>
            <a:off x="731520" y="1965960"/>
            <a:ext cx="5029200" cy="2926080"/>
          </a:xfrm>
          <a:prstGeom prst="rect">
            <a:avLst/>
          </a:prstGeom>
        </p:spPr>
      </p:pic>
      <p:pic>
        <p:nvPicPr>
          <p:cNvPr id="7" name="Picture 6" descr="02_rating_distribution_raw.png"/>
          <p:cNvPicPr>
            <a:picLocks noChangeAspect="1"/>
          </p:cNvPicPr>
          <p:nvPr/>
        </p:nvPicPr>
        <p:blipFill>
          <a:blip r:embed="rId3"/>
          <a:stretch>
            <a:fillRect/>
          </a:stretch>
        </p:blipFill>
        <p:spPr>
          <a:xfrm>
            <a:off x="6400800" y="1965960"/>
            <a:ext cx="5029200" cy="2926080"/>
          </a:xfrm>
          <a:prstGeom prst="rect">
            <a:avLst/>
          </a:prstGeom>
        </p:spPr>
      </p:pic>
      <p:sp>
        <p:nvSpPr>
          <p:cNvPr id="8" name="TextBox 7"/>
          <p:cNvSpPr txBox="1"/>
          <p:nvPr/>
        </p:nvSpPr>
        <p:spPr>
          <a:xfrm>
            <a:off x="731520" y="5486400"/>
            <a:ext cx="10728655" cy="731520"/>
          </a:xfrm>
          <a:prstGeom prst="rect">
            <a:avLst/>
          </a:prstGeom>
          <a:noFill/>
        </p:spPr>
        <p:txBody>
          <a:bodyPr wrap="square">
            <a:spAutoFit/>
          </a:bodyPr>
          <a:lstStyle/>
          <a:p>
            <a:pPr>
              <a:defRPr sz="1200" i="1">
                <a:solidFill>
                  <a:srgbClr val="4A5568"/>
                </a:solidFill>
                <a:latin typeface="Segoe UI"/>
              </a:defRPr>
            </a:pPr>
            <a:r>
              <a:t>Catatan Visual: Proporsi sentimen ulasan didominasi oleh rating Bintang 5 sebesar 34.65% (13,051 ulasan), yang mengindikasikan tingkat kepuasan/apresiasi utama yang tinggi dari pengguna. Sementara itu, rasio ketidakpuasan atau komplain minor (Bintang 1 &amp; 2) menyumbang sekitar 51.03% (19,220 ulasan) dari total ulasan.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2400" b="1">
                <a:solidFill>
                  <a:srgbClr val="FFFFFF"/>
                </a:solidFill>
                <a:latin typeface="Segoe UI"/>
              </a:defRPr>
            </a:pPr>
            <a:r>
              <a:t>Kategori Sentimen Negatif &amp; Keluhan Utama</a:t>
            </a:r>
          </a:p>
        </p:txBody>
      </p:sp>
      <p:sp>
        <p:nvSpPr>
          <p:cNvPr id="5" name="TextBox 4"/>
          <p:cNvSpPr txBox="1"/>
          <p:nvPr/>
        </p:nvSpPr>
        <p:spPr>
          <a:xfrm>
            <a:off x="548640" y="6400800"/>
            <a:ext cx="11094415" cy="365760"/>
          </a:xfrm>
          <a:prstGeom prst="rect">
            <a:avLst/>
          </a:prstGeom>
          <a:noFill/>
        </p:spPr>
        <p:txBody>
          <a:bodyPr wrap="none">
            <a:spAutoFit/>
          </a:bodyPr>
          <a:lstStyle/>
          <a:p>
            <a:pPr>
              <a:defRPr sz="1000" i="1">
                <a:solidFill>
                  <a:srgbClr val="64748B"/>
                </a:solidFill>
                <a:latin typeface="Segoe UI"/>
              </a:defRPr>
            </a:pPr>
            <a:r>
              <a:t>Laporan Analisis Sentimen Ulasan | CaRI Sentimen ID</a:t>
            </a:r>
          </a:p>
        </p:txBody>
      </p:sp>
      <p:pic>
        <p:nvPicPr>
          <p:cNvPr id="6" name="Picture 5" descr="03_top_negative_categories.png"/>
          <p:cNvPicPr>
            <a:picLocks noChangeAspect="1"/>
          </p:cNvPicPr>
          <p:nvPr/>
        </p:nvPicPr>
        <p:blipFill>
          <a:blip r:embed="rId2"/>
          <a:stretch>
            <a:fillRect/>
          </a:stretch>
        </p:blipFill>
        <p:spPr>
          <a:xfrm>
            <a:off x="731520" y="1965960"/>
            <a:ext cx="5029200" cy="2926080"/>
          </a:xfrm>
          <a:prstGeom prst="rect">
            <a:avLst/>
          </a:prstGeom>
        </p:spPr>
      </p:pic>
      <p:pic>
        <p:nvPicPr>
          <p:cNvPr id="7" name="Picture 6" descr="06_top_negative_topics.png"/>
          <p:cNvPicPr>
            <a:picLocks noChangeAspect="1"/>
          </p:cNvPicPr>
          <p:nvPr/>
        </p:nvPicPr>
        <p:blipFill>
          <a:blip r:embed="rId3"/>
          <a:stretch>
            <a:fillRect/>
          </a:stretch>
        </p:blipFill>
        <p:spPr>
          <a:xfrm>
            <a:off x="6400800" y="1965960"/>
            <a:ext cx="5029200" cy="2926080"/>
          </a:xfrm>
          <a:prstGeom prst="rect">
            <a:avLst/>
          </a:prstGeom>
        </p:spPr>
      </p:pic>
      <p:sp>
        <p:nvSpPr>
          <p:cNvPr id="8" name="TextBox 7"/>
          <p:cNvSpPr txBox="1"/>
          <p:nvPr/>
        </p:nvSpPr>
        <p:spPr>
          <a:xfrm>
            <a:off x="731520" y="5486400"/>
            <a:ext cx="10728655" cy="731520"/>
          </a:xfrm>
          <a:prstGeom prst="rect">
            <a:avLst/>
          </a:prstGeom>
          <a:noFill/>
        </p:spPr>
        <p:txBody>
          <a:bodyPr wrap="square">
            <a:spAutoFit/>
          </a:bodyPr>
          <a:lstStyle/>
          <a:p>
            <a:pPr>
              <a:defRPr sz="1200" i="1">
                <a:solidFill>
                  <a:srgbClr val="4A5568"/>
                </a:solidFill>
                <a:latin typeface="Segoe UI"/>
              </a:defRPr>
            </a:pPr>
            <a:r>
              <a:t>Analisis Keluhan: Kategori Langganan Tidak Aktif (Tidak dapat menonton meski sudah berlangganan) dengan 4,959 ulasan &amp; Kategori Kualitas Aplikasi (Aplikasi dianggap buruk/jelek) dengan 2,425 ulasan mendominasi volume sentimen negatif.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2400" b="1">
                <a:solidFill>
                  <a:srgbClr val="FFFFFF"/>
                </a:solidFill>
                <a:latin typeface="Segoe UI"/>
              </a:defRPr>
            </a:pPr>
            <a:r>
              <a:t>Kinerja CS &amp; Penanganan Keluhan</a:t>
            </a:r>
          </a:p>
        </p:txBody>
      </p:sp>
      <p:sp>
        <p:nvSpPr>
          <p:cNvPr id="5" name="TextBox 4"/>
          <p:cNvSpPr txBox="1"/>
          <p:nvPr/>
        </p:nvSpPr>
        <p:spPr>
          <a:xfrm>
            <a:off x="548640" y="6400800"/>
            <a:ext cx="11094415" cy="365760"/>
          </a:xfrm>
          <a:prstGeom prst="rect">
            <a:avLst/>
          </a:prstGeom>
          <a:noFill/>
        </p:spPr>
        <p:txBody>
          <a:bodyPr wrap="none">
            <a:spAutoFit/>
          </a:bodyPr>
          <a:lstStyle/>
          <a:p>
            <a:pPr>
              <a:defRPr sz="1000" i="1">
                <a:solidFill>
                  <a:srgbClr val="64748B"/>
                </a:solidFill>
                <a:latin typeface="Segoe UI"/>
              </a:defRPr>
            </a:pPr>
            <a:r>
              <a:t>Laporan Analisis Sentimen Ulasan | CaRI Sentimen ID</a:t>
            </a:r>
          </a:p>
        </p:txBody>
      </p:sp>
      <p:pic>
        <p:nvPicPr>
          <p:cNvPr id="6" name="Picture 5" descr="09_cs_reply_rate.png"/>
          <p:cNvPicPr>
            <a:picLocks noChangeAspect="1"/>
          </p:cNvPicPr>
          <p:nvPr/>
        </p:nvPicPr>
        <p:blipFill>
          <a:blip r:embed="rId2"/>
          <a:stretch>
            <a:fillRect/>
          </a:stretch>
        </p:blipFill>
        <p:spPr>
          <a:xfrm>
            <a:off x="731520" y="1965960"/>
            <a:ext cx="5029200" cy="2926080"/>
          </a:xfrm>
          <a:prstGeom prst="rect">
            <a:avLst/>
          </a:prstGeom>
        </p:spPr>
      </p:pic>
      <p:pic>
        <p:nvPicPr>
          <p:cNvPr id="7" name="Picture 6" descr="10_cs_reply_delay.png"/>
          <p:cNvPicPr>
            <a:picLocks noChangeAspect="1"/>
          </p:cNvPicPr>
          <p:nvPr/>
        </p:nvPicPr>
        <p:blipFill>
          <a:blip r:embed="rId3"/>
          <a:stretch>
            <a:fillRect/>
          </a:stretch>
        </p:blipFill>
        <p:spPr>
          <a:xfrm>
            <a:off x="6400800" y="1965960"/>
            <a:ext cx="5029200" cy="2926080"/>
          </a:xfrm>
          <a:prstGeom prst="rect">
            <a:avLst/>
          </a:prstGeom>
        </p:spPr>
      </p:pic>
      <p:sp>
        <p:nvSpPr>
          <p:cNvPr id="8" name="TextBox 7"/>
          <p:cNvSpPr txBox="1"/>
          <p:nvPr/>
        </p:nvSpPr>
        <p:spPr>
          <a:xfrm>
            <a:off x="731520" y="5486400"/>
            <a:ext cx="10728655" cy="731520"/>
          </a:xfrm>
          <a:prstGeom prst="rect">
            <a:avLst/>
          </a:prstGeom>
          <a:noFill/>
        </p:spPr>
        <p:txBody>
          <a:bodyPr wrap="square">
            <a:spAutoFit/>
          </a:bodyPr>
          <a:lstStyle/>
          <a:p>
            <a:pPr>
              <a:defRPr sz="1200" i="1">
                <a:solidFill>
                  <a:srgbClr val="4A5568"/>
                </a:solidFill>
                <a:latin typeface="Segoe UI"/>
              </a:defRPr>
            </a:pPr>
            <a:r>
              <a:t>Evaluasi CS: Rata-rata reply rate penanganan keluhan adalah 98.9%. Median delay tanggapan berkisar antara 0.0 jam. Penanganan diarahkan dengan rata-rata pengalihan kontak bantuan/layanan admin sebesar 81.1%.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