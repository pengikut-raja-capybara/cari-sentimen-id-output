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0"/>
            <a:ext cx="73152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0"/>
            <a:ext cx="36576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0" y="3657600"/>
            <a:ext cx="5486400" cy="5486400"/>
          </a:xfrm>
          <a:prstGeom prst="ellipse">
            <a:avLst/>
          </a:prstGeom>
          <a:solidFill>
            <a:srgbClr val="13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3017520"/>
            <a:ext cx="228600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914400"/>
            <a:ext cx="9601200" cy="20116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500" b="1">
                <a:solidFill>
                  <a:srgbClr val="818CF8"/>
                </a:solidFill>
                <a:latin typeface="Segoe UI"/>
              </a:defRPr>
            </a:pPr>
            <a:r>
              <a:t>LAPORAN ANALISIS SENTIMEN ULASAN</a:t>
            </a:r>
          </a:p>
          <a:p>
            <a:pPr>
              <a:spcBef>
                <a:spcPts val="800"/>
              </a:spcBef>
              <a:defRPr sz="5000" b="1">
                <a:solidFill>
                  <a:srgbClr val="FFFFFF"/>
                </a:solidFill>
                <a:latin typeface="Segoe UI"/>
              </a:defRPr>
            </a:pPr>
            <a:r>
              <a:t>Vidio: Sports, Movies, Series</a:t>
            </a:r>
          </a:p>
          <a:p>
            <a:pPr>
              <a:spcBef>
                <a:spcPts val="800"/>
              </a:spcBef>
              <a:defRPr sz="1500">
                <a:solidFill>
                  <a:srgbClr val="94A3B8"/>
                </a:solidFill>
                <a:latin typeface="Segoe UI"/>
              </a:defRPr>
            </a:pPr>
            <a:r>
              <a:t>Analisis Sentimen &amp; Ringkasan Insight Ulasan Pengguna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3383280"/>
            <a:ext cx="5943600" cy="2011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566160"/>
            <a:ext cx="5486400" cy="16459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64748B"/>
                </a:solidFill>
                <a:latin typeface="Segoe UI"/>
              </a:defRPr>
            </a:pPr>
            <a:r>
              <a:t>DETAIL LAPORAN</a:t>
            </a:r>
          </a:p>
          <a:p>
            <a:pPr>
              <a:defRPr sz="1100">
                <a:solidFill>
                  <a:srgbClr val="E2E8F0"/>
                </a:solidFill>
                <a:latin typeface="Segoe UI"/>
              </a:defRPr>
            </a:pPr>
            <a:r>
              <a:t>• Periode Data: 2023-06-15 s/d 2026-06-15</a:t>
            </a:r>
          </a:p>
          <a:p>
            <a:pPr>
              <a:spcBef>
                <a:spcPts val="4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• Total Ulasan: 37,661 ulasan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Tanggal Terbit: 25 June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85216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CaRI Sentimen ID  |  Powered by BERTopic, IndoBERT &amp; LLM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Ringkasan Eksekutif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  <a:latin typeface="Segoe UI"/>
              </a:defRPr>
            </a:pPr>
            <a:r>
              <a:t>Laporan Analisis Sentimen Ulasan | CaRI Sentimen 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1148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137160" cy="100584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554480"/>
            <a:ext cx="3749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18096"/>
                </a:solidFill>
                <a:latin typeface="Segoe UI"/>
              </a:defRPr>
            </a:pPr>
            <a:r>
              <a:t>TOTAL ULASAN</a:t>
            </a:r>
          </a:p>
          <a:p>
            <a:pPr>
              <a:defRPr sz="2800" b="1">
                <a:solidFill>
                  <a:srgbClr val="2B6CB0"/>
                </a:solidFill>
                <a:latin typeface="Segoe UI"/>
              </a:defRPr>
            </a:pPr>
            <a:r>
              <a:t>37,661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51760"/>
            <a:ext cx="41148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137160" cy="1005840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43200"/>
            <a:ext cx="3749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18096"/>
                </a:solidFill>
                <a:latin typeface="Segoe UI"/>
              </a:defRPr>
            </a:pPr>
            <a:r>
              <a:t>TINGKAT KEPUASAN (POSITIF)</a:t>
            </a:r>
          </a:p>
          <a:p>
            <a:pPr>
              <a:defRPr sz="2800" b="1">
                <a:solidFill>
                  <a:srgbClr val="2F855A"/>
                </a:solidFill>
                <a:latin typeface="Segoe UI"/>
              </a:defRPr>
            </a:pPr>
            <a:r>
              <a:t>41.46%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41148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840480"/>
            <a:ext cx="137160" cy="100584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931920"/>
            <a:ext cx="3749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18096"/>
                </a:solidFill>
                <a:latin typeface="Segoe UI"/>
              </a:defRPr>
            </a:pPr>
            <a:r>
              <a:t>RASIO KOMPLAIN (NEGATIF)</a:t>
            </a:r>
          </a:p>
          <a:p>
            <a:pPr>
              <a:defRPr sz="2800" b="1">
                <a:solidFill>
                  <a:srgbClr val="C53030"/>
                </a:solidFill>
                <a:latin typeface="Segoe UI"/>
              </a:defRPr>
            </a:pPr>
            <a:r>
              <a:t>51.03%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029200"/>
            <a:ext cx="41148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5029200"/>
            <a:ext cx="137160" cy="1005840"/>
          </a:xfrm>
          <a:prstGeom prst="rect">
            <a:avLst/>
          </a:prstGeom>
          <a:solidFill>
            <a:srgbClr val="4A5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120640"/>
            <a:ext cx="3749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18096"/>
                </a:solidFill>
                <a:latin typeface="Segoe UI"/>
              </a:defRPr>
            </a:pPr>
            <a:r>
              <a:t>TINGKAT AKURASI AI</a:t>
            </a:r>
          </a:p>
          <a:p>
            <a:pPr>
              <a:defRPr sz="2800" b="1">
                <a:solidFill>
                  <a:srgbClr val="4A5568"/>
                </a:solidFill>
                <a:latin typeface="Segoe UI"/>
              </a:defRPr>
            </a:pPr>
            <a:r>
              <a:t>97.2%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1463040"/>
            <a:ext cx="6217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E293B"/>
                </a:solidFill>
                <a:latin typeface="Segoe UI"/>
              </a:defRPr>
            </a:pPr>
            <a:r>
              <a:t>Insight Utama &amp; Pola Sentimen:</a:t>
            </a:r>
          </a:p>
          <a:p>
            <a:pPr>
              <a:spcAft>
                <a:spcPts val="1200"/>
              </a:spcAft>
              <a:defRPr sz="1300">
                <a:solidFill>
                  <a:srgbClr val="4A5568"/>
                </a:solidFill>
                <a:latin typeface="Segoe UI"/>
              </a:defRPr>
            </a:pPr>
            <a:r>
              <a:t>• Total ulasan: 37.661 (periode 15‑Jun‑2023 sd 15‑Jun‑2026).</a:t>
            </a:r>
          </a:p>
          <a:p>
            <a:pPr>
              <a:spcAft>
                <a:spcPts val="1200"/>
              </a:spcAft>
              <a:defRPr sz="1300">
                <a:solidFill>
                  <a:srgbClr val="4A5568"/>
                </a:solidFill>
                <a:latin typeface="Segoe UI"/>
              </a:defRPr>
            </a:pPr>
            <a:r>
              <a:t>• Distribusi sentimen</a:t>
            </a:r>
          </a:p>
          <a:p>
            <a:pPr>
              <a:spcAft>
                <a:spcPts val="1200"/>
              </a:spcAft>
              <a:defRPr sz="1300">
                <a:solidFill>
                  <a:srgbClr val="4A5568"/>
                </a:solidFill>
                <a:latin typeface="Segoe UI"/>
              </a:defRPr>
            </a:pPr>
            <a:r>
              <a:t>• Positif: 15.613 ulasan (41,46 %, rata‑rata skor 4,84)</a:t>
            </a:r>
          </a:p>
          <a:p>
            <a:pPr>
              <a:spcAft>
                <a:spcPts val="1200"/>
              </a:spcAft>
              <a:defRPr sz="1300">
                <a:solidFill>
                  <a:srgbClr val="4A5568"/>
                </a:solidFill>
                <a:latin typeface="Segoe UI"/>
              </a:defRPr>
            </a:pPr>
            <a:r>
              <a:t>• Negatif: 19.220 ulasan (51,03 %, rata‑rata skor 1,16)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Distribusi Sentimen &amp; Rating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  <a:latin typeface="Segoe UI"/>
              </a:defRPr>
            </a:pPr>
            <a:r>
              <a:t>Laporan Analisis Sentimen Ulasan | CaRI Sentimen ID</a:t>
            </a:r>
          </a:p>
        </p:txBody>
      </p:sp>
      <p:pic>
        <p:nvPicPr>
          <p:cNvPr id="6" name="Picture 5" descr="01_sentiment_distribution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65960"/>
            <a:ext cx="5029200" cy="2926080"/>
          </a:xfrm>
          <a:prstGeom prst="rect">
            <a:avLst/>
          </a:prstGeom>
        </p:spPr>
      </p:pic>
      <p:pic>
        <p:nvPicPr>
          <p:cNvPr id="7" name="Picture 6" descr="02_rating_distribution_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65960"/>
            <a:ext cx="502920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4864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4A5568"/>
                </a:solidFill>
                <a:latin typeface="Segoe UI"/>
              </a:defRPr>
            </a:pPr>
            <a:r>
              <a:t>Catatan Visual: Proporsi sentimen ulasan didominasi oleh rating Bintang 5 sebesar 34.65% (13,051 ulasan), yang mengindikasikan tingkat kepuasan/apresiasi utama yang tinggi dari pengguna. Sementara itu, rasio ketidakpuasan atau komplain minor (Bintang 1 &amp; 2) menyumbang sekitar 51.03% (19,220 ulasan) dari total ulasan.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Kategori Sentimen Negatif &amp; Keluhan Utama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  <a:latin typeface="Segoe UI"/>
              </a:defRPr>
            </a:pPr>
            <a:r>
              <a:t>Laporan Analisis Sentimen Ulasan | CaRI Sentimen ID</a:t>
            </a:r>
          </a:p>
        </p:txBody>
      </p:sp>
      <p:pic>
        <p:nvPicPr>
          <p:cNvPr id="6" name="Picture 5" descr="03_top_negative_categ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65960"/>
            <a:ext cx="5029200" cy="2926080"/>
          </a:xfrm>
          <a:prstGeom prst="rect">
            <a:avLst/>
          </a:prstGeom>
        </p:spPr>
      </p:pic>
      <p:pic>
        <p:nvPicPr>
          <p:cNvPr id="7" name="Picture 6" descr="06_top_negative_top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65960"/>
            <a:ext cx="502920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4864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4A5568"/>
                </a:solidFill>
                <a:latin typeface="Segoe UI"/>
              </a:defRPr>
            </a:pPr>
            <a:r>
              <a:t>Analisis Keluhan: Kategori Langganan Tidak Aktif (Tidak dapat menonton meski sudah berlangganan) dengan 4,959 ulasan &amp; Kategori Kualitas Aplikasi (Aplikasi dianggap buruk/jelek) dengan 2,425 ulasan mendominasi volume sentimen negatif.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Kinerja CS &amp; Penanganan Keluhan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  <a:latin typeface="Segoe UI"/>
              </a:defRPr>
            </a:pPr>
            <a:r>
              <a:t>Laporan Analisis Sentimen Ulasan | CaRI Sentimen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4A5568"/>
                </a:solidFill>
                <a:latin typeface="Segoe UI"/>
              </a:defRPr>
            </a:pPr>
            <a:r>
              <a:t>Evaluasi CS: Rata-rata reply rate penanganan keluhan adalah 98.9%. Median delay tanggapan berkisar antara 0.0 jam. Penanganan diarahkan dengan rata-rata pengalihan kontak bantuan/layanan admin sebesar 81.1%.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