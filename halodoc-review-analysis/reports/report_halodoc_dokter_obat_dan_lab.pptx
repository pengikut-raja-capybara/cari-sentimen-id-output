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73152" cy="6858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0"/>
            <a:ext cx="36576" cy="68580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0" y="3657600"/>
            <a:ext cx="5486400" cy="5486400"/>
          </a:xfrm>
          <a:prstGeom prst="ellipse">
            <a:avLst/>
          </a:prstGeom>
          <a:solidFill>
            <a:srgbClr val="131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017520"/>
            <a:ext cx="2286000"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914400"/>
            <a:ext cx="9601200" cy="2011680"/>
          </a:xfrm>
          <a:prstGeom prst="rect">
            <a:avLst/>
          </a:prstGeom>
          <a:noFill/>
        </p:spPr>
        <p:txBody>
          <a:bodyPr wrap="square" lIns="0" tIns="0" bIns="0" rIns="0">
            <a:spAutoFit/>
          </a:bodyPr>
          <a:lstStyle/>
          <a:p>
            <a:pPr>
              <a:defRPr sz="1500" b="1">
                <a:solidFill>
                  <a:srgbClr val="818CF8"/>
                </a:solidFill>
                <a:latin typeface="Segoe UI"/>
              </a:defRPr>
            </a:pPr>
            <a:r>
              <a:t>LAPORAN ANALISIS SENTIMEN ULASAN</a:t>
            </a:r>
          </a:p>
          <a:p>
            <a:pPr>
              <a:spcBef>
                <a:spcPts val="800"/>
              </a:spcBef>
              <a:defRPr sz="5000" b="1">
                <a:solidFill>
                  <a:srgbClr val="FFFFFF"/>
                </a:solidFill>
                <a:latin typeface="Segoe UI"/>
              </a:defRPr>
            </a:pPr>
            <a:r>
              <a:t>Halodoc: Dokter, Obat &amp; Lab</a:t>
            </a:r>
          </a:p>
          <a:p>
            <a:pPr>
              <a:spcBef>
                <a:spcPts val="800"/>
              </a:spcBef>
              <a:defRPr sz="1500">
                <a:solidFill>
                  <a:srgbClr val="94A3B8"/>
                </a:solidFill>
                <a:latin typeface="Segoe UI"/>
              </a:defRPr>
            </a:pPr>
            <a:r>
              <a:t>Analisis Sentimen &amp; Ringkasan Insight Ulasan Pengguna</a:t>
            </a:r>
          </a:p>
        </p:txBody>
      </p:sp>
      <p:sp>
        <p:nvSpPr>
          <p:cNvPr id="9" name="Rounded Rectangle 8"/>
          <p:cNvSpPr/>
          <p:nvPr/>
        </p:nvSpPr>
        <p:spPr>
          <a:xfrm>
            <a:off x="1097280" y="3383280"/>
            <a:ext cx="5943600" cy="201168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3566160"/>
            <a:ext cx="5486400" cy="1645920"/>
          </a:xfrm>
          <a:prstGeom prst="rect">
            <a:avLst/>
          </a:prstGeom>
          <a:noFill/>
        </p:spPr>
        <p:txBody>
          <a:bodyPr wrap="square" lIns="0" tIns="0" bIns="0" rIns="0">
            <a:spAutoFit/>
          </a:bodyPr>
          <a:lstStyle/>
          <a:p>
            <a:pPr>
              <a:spcAft>
                <a:spcPts val="800"/>
              </a:spcAft>
              <a:defRPr sz="1100" b="1">
                <a:solidFill>
                  <a:srgbClr val="64748B"/>
                </a:solidFill>
                <a:latin typeface="Segoe UI"/>
              </a:defRPr>
            </a:pPr>
            <a:r>
              <a:t>DETAIL LAPORAN</a:t>
            </a:r>
          </a:p>
          <a:p>
            <a:pPr>
              <a:defRPr sz="1100">
                <a:solidFill>
                  <a:srgbClr val="E2E8F0"/>
                </a:solidFill>
                <a:latin typeface="Segoe UI"/>
              </a:defRPr>
            </a:pPr>
            <a:r>
              <a:t>• Periode Data: 2023-06-15 s/d 2026-06-15</a:t>
            </a:r>
          </a:p>
          <a:p>
            <a:pPr>
              <a:spcBef>
                <a:spcPts val="400"/>
              </a:spcBef>
              <a:defRPr sz="1100" b="1">
                <a:solidFill>
                  <a:srgbClr val="38BDF8"/>
                </a:solidFill>
                <a:latin typeface="Segoe UI"/>
              </a:defRPr>
            </a:pPr>
            <a:r>
              <a:t>• Total Ulasan: 15,629 ulasan</a:t>
            </a:r>
          </a:p>
          <a:p>
            <a:pPr>
              <a:spcBef>
                <a:spcPts val="400"/>
              </a:spcBef>
              <a:defRPr sz="1100">
                <a:solidFill>
                  <a:srgbClr val="E2E8F0"/>
                </a:solidFill>
                <a:latin typeface="Segoe UI"/>
              </a:defRPr>
            </a:pPr>
            <a:r>
              <a:t>• Tanggal Terbit: 25 June 2026</a:t>
            </a:r>
          </a:p>
        </p:txBody>
      </p:sp>
      <p:sp>
        <p:nvSpPr>
          <p:cNvPr id="11" name="TextBox 10"/>
          <p:cNvSpPr txBox="1"/>
          <p:nvPr/>
        </p:nvSpPr>
        <p:spPr>
          <a:xfrm>
            <a:off x="1097280" y="5852160"/>
            <a:ext cx="9601200" cy="457200"/>
          </a:xfrm>
          <a:prstGeom prst="rect">
            <a:avLst/>
          </a:prstGeom>
          <a:noFill/>
        </p:spPr>
        <p:txBody>
          <a:bodyPr wrap="none">
            <a:spAutoFit/>
          </a:bodyPr>
          <a:lstStyle/>
          <a:p>
            <a:pPr>
              <a:defRPr sz="1000">
                <a:solidFill>
                  <a:srgbClr val="475569"/>
                </a:solidFill>
                <a:latin typeface="Segoe UI"/>
              </a:defRPr>
            </a:pPr>
            <a:r>
              <a:t>CaRI Sentimen ID  |  Powered by BERTopic, IndoBERT &amp; 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Ringkasan Eksekutif</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sp>
        <p:nvSpPr>
          <p:cNvPr id="6" name="Rounded Rectangle 5"/>
          <p:cNvSpPr/>
          <p:nvPr/>
        </p:nvSpPr>
        <p:spPr>
          <a:xfrm>
            <a:off x="731520" y="146304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37160"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554480"/>
            <a:ext cx="3749040" cy="822960"/>
          </a:xfrm>
          <a:prstGeom prst="rect">
            <a:avLst/>
          </a:prstGeom>
          <a:noFill/>
        </p:spPr>
        <p:txBody>
          <a:bodyPr wrap="square">
            <a:spAutoFit/>
          </a:bodyPr>
          <a:lstStyle/>
          <a:p>
            <a:pPr>
              <a:defRPr sz="1100" b="1">
                <a:solidFill>
                  <a:srgbClr val="718096"/>
                </a:solidFill>
                <a:latin typeface="Segoe UI"/>
              </a:defRPr>
            </a:pPr>
            <a:r>
              <a:t>TOTAL ULASAN</a:t>
            </a:r>
          </a:p>
          <a:p>
            <a:pPr>
              <a:defRPr sz="2800" b="1">
                <a:solidFill>
                  <a:srgbClr val="2B6CB0"/>
                </a:solidFill>
                <a:latin typeface="Segoe UI"/>
              </a:defRPr>
            </a:pPr>
            <a:r>
              <a:t>15,629</a:t>
            </a:r>
          </a:p>
        </p:txBody>
      </p:sp>
      <p:sp>
        <p:nvSpPr>
          <p:cNvPr id="9" name="Rounded Rectangle 8"/>
          <p:cNvSpPr/>
          <p:nvPr/>
        </p:nvSpPr>
        <p:spPr>
          <a:xfrm>
            <a:off x="731520" y="265176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37160" cy="1005840"/>
          </a:xfrm>
          <a:prstGeom prst="rect">
            <a:avLst/>
          </a:prstGeom>
          <a:solidFill>
            <a:srgbClr val="2F8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43200"/>
            <a:ext cx="3749040" cy="822960"/>
          </a:xfrm>
          <a:prstGeom prst="rect">
            <a:avLst/>
          </a:prstGeom>
          <a:noFill/>
        </p:spPr>
        <p:txBody>
          <a:bodyPr wrap="square">
            <a:spAutoFit/>
          </a:bodyPr>
          <a:lstStyle/>
          <a:p>
            <a:pPr>
              <a:defRPr sz="1100" b="1">
                <a:solidFill>
                  <a:srgbClr val="718096"/>
                </a:solidFill>
                <a:latin typeface="Segoe UI"/>
              </a:defRPr>
            </a:pPr>
            <a:r>
              <a:t>TINGKAT KEPUASAN (POSITIF)</a:t>
            </a:r>
          </a:p>
          <a:p>
            <a:pPr>
              <a:defRPr sz="2800" b="1">
                <a:solidFill>
                  <a:srgbClr val="2F855A"/>
                </a:solidFill>
                <a:latin typeface="Segoe UI"/>
              </a:defRPr>
            </a:pPr>
            <a:r>
              <a:t>88.76%</a:t>
            </a:r>
          </a:p>
        </p:txBody>
      </p:sp>
      <p:sp>
        <p:nvSpPr>
          <p:cNvPr id="12" name="Rounded Rectangle 11"/>
          <p:cNvSpPr/>
          <p:nvPr/>
        </p:nvSpPr>
        <p:spPr>
          <a:xfrm>
            <a:off x="731520" y="384048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37160" cy="1005840"/>
          </a:xfrm>
          <a:prstGeom prst="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931920"/>
            <a:ext cx="3749040" cy="822960"/>
          </a:xfrm>
          <a:prstGeom prst="rect">
            <a:avLst/>
          </a:prstGeom>
          <a:noFill/>
        </p:spPr>
        <p:txBody>
          <a:bodyPr wrap="square">
            <a:spAutoFit/>
          </a:bodyPr>
          <a:lstStyle/>
          <a:p>
            <a:pPr>
              <a:defRPr sz="1100" b="1">
                <a:solidFill>
                  <a:srgbClr val="718096"/>
                </a:solidFill>
                <a:latin typeface="Segoe UI"/>
              </a:defRPr>
            </a:pPr>
            <a:r>
              <a:t>RASIO KOMPLAIN (NEGATIF)</a:t>
            </a:r>
          </a:p>
          <a:p>
            <a:pPr>
              <a:defRPr sz="2800" b="1">
                <a:solidFill>
                  <a:srgbClr val="C53030"/>
                </a:solidFill>
                <a:latin typeface="Segoe UI"/>
              </a:defRPr>
            </a:pPr>
            <a:r>
              <a:t>9.78%</a:t>
            </a:r>
          </a:p>
        </p:txBody>
      </p:sp>
      <p:sp>
        <p:nvSpPr>
          <p:cNvPr id="15" name="Rounded Rectangle 14"/>
          <p:cNvSpPr/>
          <p:nvPr/>
        </p:nvSpPr>
        <p:spPr>
          <a:xfrm>
            <a:off x="731520" y="502920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37160" cy="100584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3749040" cy="822960"/>
          </a:xfrm>
          <a:prstGeom prst="rect">
            <a:avLst/>
          </a:prstGeom>
          <a:noFill/>
        </p:spPr>
        <p:txBody>
          <a:bodyPr wrap="square">
            <a:spAutoFit/>
          </a:bodyPr>
          <a:lstStyle/>
          <a:p>
            <a:pPr>
              <a:defRPr sz="1100" b="1">
                <a:solidFill>
                  <a:srgbClr val="718096"/>
                </a:solidFill>
                <a:latin typeface="Segoe UI"/>
              </a:defRPr>
            </a:pPr>
            <a:r>
              <a:t>TINGKAT AKURASI AI</a:t>
            </a:r>
          </a:p>
          <a:p>
            <a:pPr>
              <a:defRPr sz="2800" b="1">
                <a:solidFill>
                  <a:srgbClr val="4A5568"/>
                </a:solidFill>
                <a:latin typeface="Segoe UI"/>
              </a:defRPr>
            </a:pPr>
            <a:r>
              <a:t>97.34%</a:t>
            </a:r>
          </a:p>
        </p:txBody>
      </p:sp>
      <p:sp>
        <p:nvSpPr>
          <p:cNvPr id="18" name="TextBox 17"/>
          <p:cNvSpPr txBox="1"/>
          <p:nvPr/>
        </p:nvSpPr>
        <p:spPr>
          <a:xfrm>
            <a:off x="5303520" y="1463040"/>
            <a:ext cx="6217920" cy="4572000"/>
          </a:xfrm>
          <a:prstGeom prst="rect">
            <a:avLst/>
          </a:prstGeom>
          <a:noFill/>
        </p:spPr>
        <p:txBody>
          <a:bodyPr wrap="square">
            <a:spAutoFit/>
          </a:bodyPr>
          <a:lstStyle/>
          <a:p>
            <a:pPr>
              <a:spcAft>
                <a:spcPts val="1000"/>
              </a:spcAft>
              <a:defRPr sz="1600" b="1">
                <a:solidFill>
                  <a:srgbClr val="1E293B"/>
                </a:solidFill>
                <a:latin typeface="Segoe UI"/>
              </a:defRPr>
            </a:pPr>
            <a:r>
              <a:t>Insight Utama &amp; Pola Sentimen:</a:t>
            </a:r>
          </a:p>
          <a:p>
            <a:pPr>
              <a:spcAft>
                <a:spcPts val="1200"/>
              </a:spcAft>
              <a:defRPr sz="1300">
                <a:solidFill>
                  <a:srgbClr val="4A5568"/>
                </a:solidFill>
                <a:latin typeface="Segoe UI"/>
              </a:defRPr>
            </a:pPr>
            <a:r>
              <a:t>• Data mencakup 15.629 ulasan yang dikumpulkan selama periode 15 Juni 2023 hingga 15 Juni 2026. Distribusi sentimen menunjukkan dominasi positif yang sangat kuat sebesar 88,76% (13.873 ulasan), diikuti sentimen negatif 9,78% (1.528 ulasan) dan netral 1,46% (228 ulasan).</a:t>
            </a:r>
          </a:p>
          <a:p>
            <a:pPr>
              <a:spcAft>
                <a:spcPts val="1200"/>
              </a:spcAft>
              <a:defRPr sz="1300">
                <a:solidFill>
                  <a:srgbClr val="4A5568"/>
                </a:solidFill>
                <a:latin typeface="Segoe UI"/>
              </a:defRPr>
            </a:pPr>
            <a:r>
              <a:t>• Terjadi polarisasi ekstrem pada distribusi rating: 83,65% (13.074) dari total ulasan memberikan rating bintang 5, yang mengindikasikan loyalitas pengguna sangat tinggi. Tingkat kepercayaan klasifikasi model secara keseluruhan mencapai 0,9734, mencerminkan akurasi tinggi dalam kategorisasi data.</a:t>
            </a:r>
          </a:p>
        </p:txBody>
      </p:sp>
      <p:sp>
        <p:nvSpPr>
          <p:cNvPr id="19" name="TextBox 18"/>
          <p:cNvSpPr txBox="1"/>
          <p:nvPr/>
        </p:nvSpPr>
        <p:spPr>
          <a:xfrm>
            <a:off x="731520" y="6126480"/>
            <a:ext cx="10698480" cy="320040"/>
          </a:xfrm>
          <a:prstGeom prst="rect">
            <a:avLst/>
          </a:prstGeom>
          <a:noFill/>
        </p:spPr>
        <p:txBody>
          <a:bodyPr wrap="square" lIns="0" tIns="0" bIns="0" rIns="0">
            <a:spAutoFit/>
          </a:bodyPr>
          <a:lstStyle/>
          <a:p>
            <a:pPr>
              <a:defRPr sz="850">
                <a:solidFill>
                  <a:srgbClr val="718096"/>
                </a:solidFill>
                <a:latin typeface="Segoe UI"/>
              </a:defRPr>
            </a:pPr>
            <a:r>
              <a:t>⚠️ Catatan Cakupan Data: Analisis ini hanya mencakup ulasan yang memiliki teks komentar. Ulasan dengan rating tanpa komentar tidak diikutsertakan, sehingga distribusi sentimen mencerminkan pengguna yang aktif memberikan pendapat dan dapat condong ke arah negatif dibanding populasi pengguna keseluruhan.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Distribusi Sentimen &amp; Rating</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1_sentiment_distribution_pie.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02_rating_distribution_raw.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Catatan Visual: Proporsi sentimen ulasan didominasi oleh rating Bintang 5 sebesar 83.65% (13,074 ulasan), yang mengindikasikan tingkat kepuasan/apresiasi utama yang tinggi dari pengguna. Sementara itu, rasio ketidakpuasan atau komplain minor (Bintang 1 &amp; 2) menyumbang sekitar 9.78% (1,528 ulasan) dari total ulasan.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Kategori Sentimen Negatif &amp; Keluhan Utama</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3_top_negative_categories.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06_top_negative_topics.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Analisis Keluhan: Kategori Layanan Konsultasi Medis (Kegagalan akses ruang chat setelah pembayaran berhasil) dengan 552 ulasan &amp; Kategori Layanan Konsultasi Medis (Saldo terpotong namun sesi chat tidak tersedia) dengan 152 ulasan mendominasi volume sentimen negatif.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Kinerja CS &amp; Penanganan Keluhan</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9_cs_reply_rate.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10_cs_reply_delay.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Evaluasi CS: Rata-rata reply rate penanganan keluhan adalah 99.8%. Median delay tanggapan berkisar antara 0.0 jam. Penanganan diarahkan dengan rata-rata pengalihan kontak bantuan/layanan admin sebesar 99.6%.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