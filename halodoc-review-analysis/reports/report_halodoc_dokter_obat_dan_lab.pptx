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0"/>
            <a:ext cx="3657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13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3017520"/>
            <a:ext cx="22860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914400"/>
            <a:ext cx="9601200" cy="20116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500" b="1">
                <a:solidFill>
                  <a:srgbClr val="818CF8"/>
                </a:solidFill>
                <a:latin typeface="Segoe UI"/>
              </a:defRPr>
            </a:pPr>
            <a:r>
              <a:t>LAPORAN ANALISIS SENTIMEN ULASAN</a:t>
            </a:r>
          </a:p>
          <a:p>
            <a:pPr>
              <a:spcBef>
                <a:spcPts val="800"/>
              </a:spcBef>
              <a:defRPr sz="5000" b="1">
                <a:solidFill>
                  <a:srgbClr val="FFFFFF"/>
                </a:solidFill>
                <a:latin typeface="Segoe UI"/>
              </a:defRPr>
            </a:pPr>
            <a:r>
              <a:t>Halodoc: Dokter, Obat &amp; Lab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  <a:latin typeface="Segoe UI"/>
              </a:defRPr>
            </a:pPr>
            <a:r>
              <a:t>Analisis Sentimen &amp; Ringkasan Insight Ulasan Pengguna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383280"/>
            <a:ext cx="59436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66160"/>
            <a:ext cx="5486400" cy="1645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64748B"/>
                </a:solidFill>
                <a:latin typeface="Segoe UI"/>
              </a:defRPr>
            </a:pPr>
            <a:r>
              <a:t>DETAIL LAPORAN</a:t>
            </a:r>
          </a:p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• Periode Data: 2023-06-15 s/d 2026-06-15</a:t>
            </a:r>
          </a:p>
          <a:p>
            <a:pPr>
              <a:spcBef>
                <a:spcPts val="4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• Total Ulasan: 15,629 ulasan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Tanggal Terbit: 23 June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5216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CaRI Sentimen ID  |  Powered by BERTopic, IndoBERT &amp;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Ringkasan Eksekutif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37160" cy="100584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TOTAL ULASAN</a:t>
            </a:r>
          </a:p>
          <a:p>
            <a:pPr>
              <a:defRPr sz="2800" b="1">
                <a:solidFill>
                  <a:srgbClr val="2B6CB0"/>
                </a:solidFill>
                <a:latin typeface="Segoe UI"/>
              </a:defRPr>
            </a:pPr>
            <a:r>
              <a:t>15,629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137160" cy="100584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TINGKAT KEPUASAN (POSITIF)</a:t>
            </a:r>
          </a:p>
          <a:p>
            <a:pPr>
              <a:defRPr sz="2800" b="1">
                <a:solidFill>
                  <a:srgbClr val="2F855A"/>
                </a:solidFill>
                <a:latin typeface="Segoe UI"/>
              </a:defRPr>
            </a:pPr>
            <a:r>
              <a:t>88.76%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40480"/>
            <a:ext cx="137160" cy="10058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3192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RASIO KOMPLAIN (NEGATIF)</a:t>
            </a:r>
          </a:p>
          <a:p>
            <a:pPr>
              <a:defRPr sz="2800" b="1">
                <a:solidFill>
                  <a:srgbClr val="C53030"/>
                </a:solidFill>
                <a:latin typeface="Segoe UI"/>
              </a:defRPr>
            </a:pPr>
            <a:r>
              <a:t>9.78%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920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029200"/>
            <a:ext cx="137160" cy="1005840"/>
          </a:xfrm>
          <a:prstGeom prst="rect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12064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TINGKAT AKURASI AI</a:t>
            </a:r>
          </a:p>
          <a:p>
            <a:pPr>
              <a:defRPr sz="2800" b="1">
                <a:solidFill>
                  <a:srgbClr val="4A5568"/>
                </a:solidFill>
                <a:latin typeface="Segoe UI"/>
              </a:defRPr>
            </a:pPr>
            <a:r>
              <a:t>97.34%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146304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E293B"/>
                </a:solidFill>
                <a:latin typeface="Segoe UI"/>
              </a:defRPr>
            </a:pPr>
            <a:r>
              <a:t>Insight Utama &amp; Pola Sentimen:</a:t>
            </a:r>
          </a:p>
          <a:p>
            <a:pPr>
              <a:spcAft>
                <a:spcPts val="1200"/>
              </a:spcAft>
              <a:defRPr sz="1300">
                <a:solidFill>
                  <a:srgbClr val="4A5568"/>
                </a:solidFill>
                <a:latin typeface="Segoe UI"/>
              </a:defRPr>
            </a:pPr>
            <a:r>
              <a:t>• Data mencakup 15.629 ulasan yang dikumpulkan selama periode 15 Juni 2023 hingga 15 Juni 2026. Distribusi sentimen menunjukkan dominasi positif yang sangat kuat sebesar 88,76% (13.873 ulasan), diikuti sentimen negatif 9,78% (1.528 ulasan) dan netral 1,46% (228 ulasan).</a:t>
            </a:r>
          </a:p>
          <a:p>
            <a:pPr>
              <a:spcAft>
                <a:spcPts val="1200"/>
              </a:spcAft>
              <a:defRPr sz="1300">
                <a:solidFill>
                  <a:srgbClr val="4A5568"/>
                </a:solidFill>
                <a:latin typeface="Segoe UI"/>
              </a:defRPr>
            </a:pPr>
            <a:r>
              <a:t>• Terjadi polarisasi ekstrem pada distribusi rating: 83,65% (13.074) dari total ulasan memberikan rating bintang 5, yang mengindikasikan loyalitas pengguna sangat tinggi. Tingkat kepercayaan klasifikasi model secara keseluruhan mencapai 0,9734, mencerminkan akurasi tinggi dalam kategorisasi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Distribusi Sentimen &amp; Rating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pic>
        <p:nvPicPr>
          <p:cNvPr id="6" name="Picture 5" descr="01_sentiment_distribution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5029200" cy="2926080"/>
          </a:xfrm>
          <a:prstGeom prst="rect">
            <a:avLst/>
          </a:prstGeom>
        </p:spPr>
      </p:pic>
      <p:pic>
        <p:nvPicPr>
          <p:cNvPr id="7" name="Picture 6" descr="02_rating_distribution_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0292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Catatan Visual: Proporsi sentimen ulasan didominasi oleh rating Bintang 5 sebesar 83.65% (13,074 ulasan), yang mengindikasikan tingkat kepuasan/apresiasi utama yang tinggi dari pengguna. Sementara itu, rasio ketidakpuasan atau komplain minor (Bintang 1 &amp; 2) menyumbang sekitar 9.78% (1,528 ulasan) dari total ulasan.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Kategori Sentimen Negatif &amp; Keluhan Utama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pic>
        <p:nvPicPr>
          <p:cNvPr id="6" name="Picture 5" descr="03_top_negative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5029200" cy="2926080"/>
          </a:xfrm>
          <a:prstGeom prst="rect">
            <a:avLst/>
          </a:prstGeom>
        </p:spPr>
      </p:pic>
      <p:pic>
        <p:nvPicPr>
          <p:cNvPr id="7" name="Picture 6" descr="06_top_negative_top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0292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Analisis Keluhan: Kategori Layanan Konsultasi Medis (Kegagalan akses ruang chat setelah pembayaran berhasil) dengan 552 ulasan &amp; Kategori Layanan Konsultasi Medis (Saldo terpotong namun sesi chat tidak tersedia) dengan 152 ulasan mendominasi volume sentimen negatif.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Kinerja CS &amp; Penanganan Keluhan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pic>
        <p:nvPicPr>
          <p:cNvPr id="6" name="Picture 5" descr="09_cs_reply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5029200" cy="2926080"/>
          </a:xfrm>
          <a:prstGeom prst="rect">
            <a:avLst/>
          </a:prstGeom>
        </p:spPr>
      </p:pic>
      <p:pic>
        <p:nvPicPr>
          <p:cNvPr id="7" name="Picture 6" descr="10_cs_reply_de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0292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Evaluasi CS: Rata-rata reply rate penanganan keluhan adalah 99.8%. Median delay tanggapan berkisar antara 0.21 - 0.94 jam. Penanganan diarahkan dengan rata-rata pengalihan kontak bantuan/layanan admin sebesar 99.6%.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