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LAPORAN ANALISIS SENTIMEN ULASAN</a:t>
            </a:r>
          </a:p>
          <a:p>
            <a:pPr>
              <a:spcBef>
                <a:spcPts val="1000"/>
              </a:spcBef>
              <a:defRPr sz="2800" b="1">
                <a:solidFill>
                  <a:srgbClr val="60A5FA"/>
                </a:solidFill>
                <a:latin typeface="Segoe UI"/>
              </a:defRPr>
            </a:pPr>
            <a:r>
              <a:t>Halodoc: Dokter, Obat &amp; Lab</a:t>
            </a:r>
          </a:p>
          <a:p>
            <a:pPr>
              <a:spcBef>
                <a:spcPts val="3000"/>
              </a:spcBef>
              <a:defRPr sz="1600">
                <a:solidFill>
                  <a:srgbClr val="64748B"/>
                </a:solidFill>
                <a:latin typeface="Segoe UI"/>
              </a:defRPr>
            </a:pPr>
            <a:r>
              <a:t>CaRI Sentimen ID — Capybara Review Intelligence</a:t>
            </a:r>
          </a:p>
          <a:p>
            <a:pPr>
              <a:spcBef>
                <a:spcPts val="2000"/>
              </a:spcBef>
              <a:defRPr sz="1300">
                <a:solidFill>
                  <a:srgbClr val="8492A6"/>
                </a:solidFill>
                <a:latin typeface="Segoe UI"/>
              </a:defRPr>
            </a:pPr>
            <a:r>
              <a:t>Periode Data: 2023-06-15 s/d 2026-06-15</a:t>
            </a:r>
            <a:br/>
            <a:r>
              <a:t>Tanggal Generate: 23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Ringkasan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0058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TOTAL ULASAN</a:t>
            </a:r>
          </a:p>
          <a:p>
            <a:pPr>
              <a:defRPr sz="2800" b="1">
                <a:solidFill>
                  <a:srgbClr val="2B6CB0"/>
                </a:solidFill>
                <a:latin typeface="Segoe UI"/>
              </a:defRPr>
            </a:pPr>
            <a:r>
              <a:t>15,629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37160" cy="10058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TINGKAT KEPUASAN (POSITIF)</a:t>
            </a:r>
          </a:p>
          <a:p>
            <a:pPr>
              <a:defRPr sz="2800" b="1">
                <a:solidFill>
                  <a:srgbClr val="2F855A"/>
                </a:solidFill>
                <a:latin typeface="Segoe UI"/>
              </a:defRPr>
            </a:pPr>
            <a:r>
              <a:t>88.76%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37160" cy="10058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RASIO KOMPLAIN (NEGATIF)</a:t>
            </a:r>
          </a:p>
          <a:p>
            <a:pPr>
              <a:defRPr sz="2800" b="1">
                <a:solidFill>
                  <a:srgbClr val="C53030"/>
                </a:solidFill>
                <a:latin typeface="Segoe UI"/>
              </a:defRPr>
            </a:pPr>
            <a:r>
              <a:t>9.78%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37160" cy="10058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TINGKAT AKURASI AI</a:t>
            </a:r>
          </a:p>
          <a:p>
            <a:pPr>
              <a:defRPr sz="2800" b="1">
                <a:solidFill>
                  <a:srgbClr val="4A5568"/>
                </a:solidFill>
                <a:latin typeface="Segoe UI"/>
              </a:defRPr>
            </a:pPr>
            <a:r>
              <a:t>97.34%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46304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Insight Utama &amp; Pola Sentimen: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Aplikasi Halodoc memiliki basis pengguna yang sangat loyal dengan total 15.629 ulasan. Distribusi sentimen menunjukkan dominasi sentimen positif sebesar 88,76% (13.873 ulasan), diikuti sentimen negatif (9,78%) dan netral (1,46%).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Polarisasi Rating: Terdapat polarisasi yang sangat tajam di mana 83,6% dari total ulasan memberikan rating bintang 5 (13.074 ulasan). Hal ini menunjukkan *brand advocacy* yang sangat kuat.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Kepercayaan Data: Model klasifikasi sentimen memiliki tingkat keyakinan (*confidence rate*) yang sangat tinggi, mencapai 97,34%, sehingga data ini sangat valid untuk dijadikan dasar pengambilan keputusan.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Distribusi Sentimen &amp;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pic>
        <p:nvPicPr>
          <p:cNvPr id="6" name="Picture 5" descr="01_sentiment_distribu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02_rating_distribution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Catatan Visual: Proporsi sentimen ulasan didominasi oleh rating Bintang 5 sebesar 83.65% (13,074 ulasan), yang mengindikasikan tingkat kepuasan/apresiasi utama yang tinggi dari pengguna. Sementara itu, rasio ketidakpuasan atau komplain minor (Bintang 1 &amp; 2) menyumbang sekitar 9.78% (1,528 ulasan) dari total ulasan.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Kategori Sentimen Negatif &amp; Keluhan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pic>
        <p:nvPicPr>
          <p:cNvPr id="6" name="Picture 5" descr="03_top_negative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06_top_negative_top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Analisis Keluhan: Kategori Layanan Konsultasi Medis (Kegagalan akses ruang chat setelah pembayaran berhasil) dengan 552 ulasan &amp; Kategori Layanan Konsultasi Medis (Saldo terpotong namun sesi chat tidak tersedia) dengan 152 ulasan mendominasi volume sentimen negatif.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Kinerja CS &amp; Penanganan Keluhan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pic>
        <p:nvPicPr>
          <p:cNvPr id="6" name="Picture 5" descr="09_cs_reply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10_cs_reply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Evaluasi CS: Rata-rata reply rate penanganan keluhan adalah 99.8%. Median delay tanggapan berkisar antara 0.21 - 0.94 jam. Penanganan diarahkan dengan rata-rata pengalihan kontak bantuan/layanan admin sebesar 99.6%.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Rekomendasi Tindakan Strategis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pic>
        <p:nvPicPr>
          <p:cNvPr id="6" name="Picture 5" descr="13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47548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Rekomendasi Bisnis &amp; Operasional:</a:t>
            </a:r>
          </a:p>
          <a:p>
            <a:pPr>
              <a:spcAft>
                <a:spcPts val="1000"/>
              </a:spcAft>
              <a:defRPr sz="1200">
                <a:solidFill>
                  <a:srgbClr val="2D3748"/>
                </a:solidFill>
                <a:latin typeface="Segoe UI"/>
              </a:defRPr>
            </a:pPr>
            <a:r>
              <a:t>• Perbaikan Backend Transaksi: Prioritaskan perbaikan *callback system* antara *payment gateway* dan ruang chat. Keluhan "saldo terpotong tapi chat tidak ada" adalah *critical point* yang harus dihilangkan untuk menjaga kepercayaan pengguna.</a:t>
            </a:r>
          </a:p>
          <a:p>
            <a:pPr>
              <a:spcAft>
                <a:spcPts val="1000"/>
              </a:spcAft>
              <a:defRPr sz="1200">
                <a:solidFill>
                  <a:srgbClr val="2D3748"/>
                </a:solidFill>
                <a:latin typeface="Segoe UI"/>
              </a:defRPr>
            </a:pPr>
            <a:r>
              <a:t>• Audit Versi Aplikasi: Segera identifikasi 2.479 ulasan dengan versi "Unknown". Lakukan *mandatory update* atau pengetatan deteksi versi agar data *crash* lebih akurat.</a:t>
            </a:r>
          </a:p>
          <a:p>
            <a:pPr>
              <a:spcAft>
                <a:spcPts val="1000"/>
              </a:spcAft>
              <a:defRPr sz="1200">
                <a:solidFill>
                  <a:srgbClr val="2D3748"/>
                </a:solidFill>
                <a:latin typeface="Segoe UI"/>
              </a:defRPr>
            </a:pPr>
            <a:r>
              <a:t>• Mekanisme Refund Otomatis: Mengingat tingginya keluhan terkait pembayaran, buatlah sistem *self-service refund* di aplikasi untuk sesi chat yang gagal, guna mengurangi beban tim CS.</a:t>
            </a:r>
          </a:p>
          <a:p>
            <a:pPr>
              <a:spcAft>
                <a:spcPts val="1000"/>
              </a:spcAft>
              <a:defRPr sz="1200">
                <a:solidFill>
                  <a:srgbClr val="2D3748"/>
                </a:solidFill>
                <a:latin typeface="Segoe UI"/>
              </a:defRPr>
            </a:pPr>
            <a:r>
              <a:t>• Optimasi SLA Respons: Fokuskan penambahan SDM/Automasi untuk kategori "Layanan Pelanggan" yang memiliki *reply rate* terendah (98,41%).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