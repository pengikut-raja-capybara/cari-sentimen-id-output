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0"/>
            <a:ext cx="36576"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0" y="3657600"/>
            <a:ext cx="5486400" cy="5486400"/>
          </a:xfrm>
          <a:prstGeom prst="ellipse">
            <a:avLst/>
          </a:prstGeom>
          <a:solidFill>
            <a:srgbClr val="13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3017520"/>
            <a:ext cx="228600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914400"/>
            <a:ext cx="9601200" cy="2011680"/>
          </a:xfrm>
          <a:prstGeom prst="rect">
            <a:avLst/>
          </a:prstGeom>
          <a:noFill/>
        </p:spPr>
        <p:txBody>
          <a:bodyPr wrap="square" lIns="0" tIns="0" bIns="0" rIns="0">
            <a:spAutoFit/>
          </a:bodyPr>
          <a:lstStyle/>
          <a:p>
            <a:pPr>
              <a:defRPr sz="1500" b="1">
                <a:solidFill>
                  <a:srgbClr val="818CF8"/>
                </a:solidFill>
                <a:latin typeface="Segoe UI"/>
              </a:defRPr>
            </a:pPr>
            <a:r>
              <a:t>LAPORAN ANALISIS SENTIMEN ULASAN</a:t>
            </a:r>
          </a:p>
          <a:p>
            <a:pPr>
              <a:spcBef>
                <a:spcPts val="800"/>
              </a:spcBef>
              <a:defRPr sz="5000" b="1">
                <a:solidFill>
                  <a:srgbClr val="FFFFFF"/>
                </a:solidFill>
                <a:latin typeface="Segoe UI"/>
              </a:defRPr>
            </a:pPr>
            <a:r>
              <a:t>JMO (Jamsostek Mobile)</a:t>
            </a:r>
          </a:p>
          <a:p>
            <a:pPr>
              <a:spcBef>
                <a:spcPts val="800"/>
              </a:spcBef>
              <a:defRPr sz="1500">
                <a:solidFill>
                  <a:srgbClr val="94A3B8"/>
                </a:solidFill>
                <a:latin typeface="Segoe UI"/>
              </a:defRPr>
            </a:pPr>
            <a:r>
              <a:t>Analisis Sentimen &amp; Ringkasan Insight Ulasan Pengguna</a:t>
            </a:r>
          </a:p>
        </p:txBody>
      </p:sp>
      <p:sp>
        <p:nvSpPr>
          <p:cNvPr id="9" name="Rounded Rectangle 8"/>
          <p:cNvSpPr/>
          <p:nvPr/>
        </p:nvSpPr>
        <p:spPr>
          <a:xfrm>
            <a:off x="1097280" y="3383280"/>
            <a:ext cx="5943600" cy="201168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566160"/>
            <a:ext cx="5486400" cy="1645920"/>
          </a:xfrm>
          <a:prstGeom prst="rect">
            <a:avLst/>
          </a:prstGeom>
          <a:noFill/>
        </p:spPr>
        <p:txBody>
          <a:bodyPr wrap="square" lIns="0" tIns="0" bIns="0" rIns="0">
            <a:spAutoFit/>
          </a:bodyPr>
          <a:lstStyle/>
          <a:p>
            <a:pPr>
              <a:spcAft>
                <a:spcPts val="800"/>
              </a:spcAft>
              <a:defRPr sz="1100" b="1">
                <a:solidFill>
                  <a:srgbClr val="64748B"/>
                </a:solidFill>
                <a:latin typeface="Segoe UI"/>
              </a:defRPr>
            </a:pPr>
            <a:r>
              <a:t>DETAIL LAPORAN</a:t>
            </a:r>
          </a:p>
          <a:p>
            <a:pPr>
              <a:defRPr sz="1100">
                <a:solidFill>
                  <a:srgbClr val="E2E8F0"/>
                </a:solidFill>
                <a:latin typeface="Segoe UI"/>
              </a:defRPr>
            </a:pPr>
            <a:r>
              <a:t>• Periode Data: 2025-06-15 s/d 2026-06-15</a:t>
            </a:r>
          </a:p>
          <a:p>
            <a:pPr>
              <a:spcBef>
                <a:spcPts val="400"/>
              </a:spcBef>
              <a:defRPr sz="1100" b="1">
                <a:solidFill>
                  <a:srgbClr val="38BDF8"/>
                </a:solidFill>
                <a:latin typeface="Segoe UI"/>
              </a:defRPr>
            </a:pPr>
            <a:r>
              <a:t>• Total Ulasan: 80,637 ulasan</a:t>
            </a:r>
          </a:p>
          <a:p>
            <a:pPr>
              <a:spcBef>
                <a:spcPts val="400"/>
              </a:spcBef>
              <a:defRPr sz="1100">
                <a:solidFill>
                  <a:srgbClr val="E2E8F0"/>
                </a:solidFill>
                <a:latin typeface="Segoe UI"/>
              </a:defRPr>
            </a:pPr>
            <a:r>
              <a:t>• Tanggal Terbit: 25 June 2026</a:t>
            </a:r>
          </a:p>
        </p:txBody>
      </p:sp>
      <p:sp>
        <p:nvSpPr>
          <p:cNvPr id="11" name="TextBox 10"/>
          <p:cNvSpPr txBox="1"/>
          <p:nvPr/>
        </p:nvSpPr>
        <p:spPr>
          <a:xfrm>
            <a:off x="1097280" y="5852160"/>
            <a:ext cx="9601200" cy="457200"/>
          </a:xfrm>
          <a:prstGeom prst="rect">
            <a:avLst/>
          </a:prstGeom>
          <a:noFill/>
        </p:spPr>
        <p:txBody>
          <a:bodyPr wrap="none">
            <a:spAutoFit/>
          </a:bodyPr>
          <a:lstStyle/>
          <a:p>
            <a:pPr>
              <a:defRPr sz="1000">
                <a:solidFill>
                  <a:srgbClr val="475569"/>
                </a:solidFill>
                <a:latin typeface="Segoe UI"/>
              </a:defRPr>
            </a:pPr>
            <a:r>
              <a:t>CaRI Sentimen ID  |  Powered by BERTopic, IndoBERT &amp; 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Ringkasan Eksekutif</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sp>
        <p:nvSpPr>
          <p:cNvPr id="6" name="Rounded Rectangle 5"/>
          <p:cNvSpPr/>
          <p:nvPr/>
        </p:nvSpPr>
        <p:spPr>
          <a:xfrm>
            <a:off x="731520" y="146304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137160"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3749040" cy="822960"/>
          </a:xfrm>
          <a:prstGeom prst="rect">
            <a:avLst/>
          </a:prstGeom>
          <a:noFill/>
        </p:spPr>
        <p:txBody>
          <a:bodyPr wrap="square">
            <a:spAutoFit/>
          </a:bodyPr>
          <a:lstStyle/>
          <a:p>
            <a:pPr>
              <a:defRPr sz="1100" b="1">
                <a:solidFill>
                  <a:srgbClr val="718096"/>
                </a:solidFill>
                <a:latin typeface="Segoe UI"/>
              </a:defRPr>
            </a:pPr>
            <a:r>
              <a:t>TOTAL ULASAN</a:t>
            </a:r>
          </a:p>
          <a:p>
            <a:pPr>
              <a:defRPr sz="2800" b="1">
                <a:solidFill>
                  <a:srgbClr val="2B6CB0"/>
                </a:solidFill>
                <a:latin typeface="Segoe UI"/>
              </a:defRPr>
            </a:pPr>
            <a:r>
              <a:t>80,637</a:t>
            </a:r>
          </a:p>
        </p:txBody>
      </p:sp>
      <p:sp>
        <p:nvSpPr>
          <p:cNvPr id="9" name="Rounded Rectangle 8"/>
          <p:cNvSpPr/>
          <p:nvPr/>
        </p:nvSpPr>
        <p:spPr>
          <a:xfrm>
            <a:off x="731520" y="265176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137160" cy="1005840"/>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43200"/>
            <a:ext cx="3749040" cy="822960"/>
          </a:xfrm>
          <a:prstGeom prst="rect">
            <a:avLst/>
          </a:prstGeom>
          <a:noFill/>
        </p:spPr>
        <p:txBody>
          <a:bodyPr wrap="square">
            <a:spAutoFit/>
          </a:bodyPr>
          <a:lstStyle/>
          <a:p>
            <a:pPr>
              <a:defRPr sz="1100" b="1">
                <a:solidFill>
                  <a:srgbClr val="718096"/>
                </a:solidFill>
                <a:latin typeface="Segoe UI"/>
              </a:defRPr>
            </a:pPr>
            <a:r>
              <a:t>TINGKAT KEPUASAN (POSITIF)</a:t>
            </a:r>
          </a:p>
          <a:p>
            <a:pPr>
              <a:defRPr sz="2800" b="1">
                <a:solidFill>
                  <a:srgbClr val="2F855A"/>
                </a:solidFill>
                <a:latin typeface="Segoe UI"/>
              </a:defRPr>
            </a:pPr>
            <a:r>
              <a:t>75.09%</a:t>
            </a:r>
          </a:p>
        </p:txBody>
      </p:sp>
      <p:sp>
        <p:nvSpPr>
          <p:cNvPr id="12" name="Rounded Rectangle 11"/>
          <p:cNvSpPr/>
          <p:nvPr/>
        </p:nvSpPr>
        <p:spPr>
          <a:xfrm>
            <a:off x="731520" y="384048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40480"/>
            <a:ext cx="137160" cy="1005840"/>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31920"/>
            <a:ext cx="3749040" cy="822960"/>
          </a:xfrm>
          <a:prstGeom prst="rect">
            <a:avLst/>
          </a:prstGeom>
          <a:noFill/>
        </p:spPr>
        <p:txBody>
          <a:bodyPr wrap="square">
            <a:spAutoFit/>
          </a:bodyPr>
          <a:lstStyle/>
          <a:p>
            <a:pPr>
              <a:defRPr sz="1100" b="1">
                <a:solidFill>
                  <a:srgbClr val="718096"/>
                </a:solidFill>
                <a:latin typeface="Segoe UI"/>
              </a:defRPr>
            </a:pPr>
            <a:r>
              <a:t>RASIO KOMPLAIN (NEGATIF)</a:t>
            </a:r>
          </a:p>
          <a:p>
            <a:pPr>
              <a:defRPr sz="2800" b="1">
                <a:solidFill>
                  <a:srgbClr val="C53030"/>
                </a:solidFill>
                <a:latin typeface="Segoe UI"/>
              </a:defRPr>
            </a:pPr>
            <a:r>
              <a:t>20.3%</a:t>
            </a:r>
          </a:p>
        </p:txBody>
      </p:sp>
      <p:sp>
        <p:nvSpPr>
          <p:cNvPr id="15" name="Rounded Rectangle 14"/>
          <p:cNvSpPr/>
          <p:nvPr/>
        </p:nvSpPr>
        <p:spPr>
          <a:xfrm>
            <a:off x="731520" y="502920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029200"/>
            <a:ext cx="137160" cy="100584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20640"/>
            <a:ext cx="3749040" cy="822960"/>
          </a:xfrm>
          <a:prstGeom prst="rect">
            <a:avLst/>
          </a:prstGeom>
          <a:noFill/>
        </p:spPr>
        <p:txBody>
          <a:bodyPr wrap="square">
            <a:spAutoFit/>
          </a:bodyPr>
          <a:lstStyle/>
          <a:p>
            <a:pPr>
              <a:defRPr sz="1100" b="1">
                <a:solidFill>
                  <a:srgbClr val="718096"/>
                </a:solidFill>
                <a:latin typeface="Segoe UI"/>
              </a:defRPr>
            </a:pPr>
            <a:r>
              <a:t>TINGKAT AKURASI AI</a:t>
            </a:r>
          </a:p>
          <a:p>
            <a:pPr>
              <a:defRPr sz="2800" b="1">
                <a:solidFill>
                  <a:srgbClr val="4A5568"/>
                </a:solidFill>
                <a:latin typeface="Segoe UI"/>
              </a:defRPr>
            </a:pPr>
            <a:r>
              <a:t>97.7%</a:t>
            </a:r>
          </a:p>
        </p:txBody>
      </p:sp>
      <p:sp>
        <p:nvSpPr>
          <p:cNvPr id="18" name="TextBox 17"/>
          <p:cNvSpPr txBox="1"/>
          <p:nvPr/>
        </p:nvSpPr>
        <p:spPr>
          <a:xfrm>
            <a:off x="5303520" y="1463040"/>
            <a:ext cx="6217920" cy="4572000"/>
          </a:xfrm>
          <a:prstGeom prst="rect">
            <a:avLst/>
          </a:prstGeom>
          <a:noFill/>
        </p:spPr>
        <p:txBody>
          <a:bodyPr wrap="square">
            <a:spAutoFit/>
          </a:bodyPr>
          <a:lstStyle/>
          <a:p>
            <a:pPr>
              <a:spcAft>
                <a:spcPts val="1000"/>
              </a:spcAft>
              <a:defRPr sz="1600" b="1">
                <a:solidFill>
                  <a:srgbClr val="1E293B"/>
                </a:solidFill>
                <a:latin typeface="Segoe UI"/>
              </a:defRPr>
            </a:pPr>
            <a:r>
              <a:t>Insight Utama &amp; Pola Sentimen:</a:t>
            </a:r>
          </a:p>
          <a:p>
            <a:pPr>
              <a:spcAft>
                <a:spcPts val="1200"/>
              </a:spcAft>
              <a:defRPr sz="1300">
                <a:solidFill>
                  <a:srgbClr val="4A5568"/>
                </a:solidFill>
                <a:latin typeface="Segoe UI"/>
              </a:defRPr>
            </a:pPr>
            <a:r>
              <a:t>• Aplikasi JMO menerima total 80.637 ulasan dalam setahun terakhir. Distribusi sentimen menunjukkan dominasi sentimen positif sebesar 75,09% (60.550 ulasan), diikuti oleh sentimen negatif 20,3% (16.369 ulasan), dan sentimen netral 4,61% (3.718 ulasan).</a:t>
            </a:r>
          </a:p>
          <a:p>
            <a:pPr>
              <a:spcAft>
                <a:spcPts val="1200"/>
              </a:spcAft>
              <a:defRPr sz="1300">
                <a:solidFill>
                  <a:srgbClr val="4A5568"/>
                </a:solidFill>
                <a:latin typeface="Segoe UI"/>
              </a:defRPr>
            </a:pPr>
            <a:r>
              <a:t>• Distribusi rating menunjukkan polarisasi yang kuat dengan 68,02% ulasan memberikan rating bintang 5 (54.854 ulasan). Sebaliknya, terdapat pula akumulasi rating bintang 1 yang signifikan sebanyak 16,62% (13.402 ulasan), menunjukkan adanya segmen pengguna yang sangat loyal berhadapan dengan kelompok yang mengalami kendala teknis krusial. Secara keseluruhan, model klasifikasi memiliki tingkat kepercayaan (confidence rate) yang sangat tinggi di angka 97,7%.</a:t>
            </a:r>
          </a:p>
          <a:p>
            <a:pPr>
              <a:spcAft>
                <a:spcPts val="1200"/>
              </a:spcAft>
              <a:defRPr sz="1300">
                <a:solidFill>
                  <a:srgbClr val="4A5568"/>
                </a:solidFill>
                <a:latin typeface="Segoe UI"/>
              </a:defRPr>
            </a:pPr>
            <a:r>
              <a:t>• </a:t>
            </a:r>
          </a:p>
        </p:txBody>
      </p:sp>
      <p:sp>
        <p:nvSpPr>
          <p:cNvPr id="19" name="TextBox 18"/>
          <p:cNvSpPr txBox="1"/>
          <p:nvPr/>
        </p:nvSpPr>
        <p:spPr>
          <a:xfrm>
            <a:off x="731520" y="6126480"/>
            <a:ext cx="10698480" cy="320040"/>
          </a:xfrm>
          <a:prstGeom prst="rect">
            <a:avLst/>
          </a:prstGeom>
          <a:noFill/>
        </p:spPr>
        <p:txBody>
          <a:bodyPr wrap="square" lIns="0" tIns="0" bIns="0" rIns="0">
            <a:spAutoFit/>
          </a:bodyPr>
          <a:lstStyle/>
          <a:p>
            <a:pPr>
              <a:defRPr sz="850">
                <a:solidFill>
                  <a:srgbClr val="718096"/>
                </a:solidFill>
                <a:latin typeface="Segoe UI"/>
              </a:defRPr>
            </a:pPr>
            <a:r>
              <a:t>⚠️ Catatan Cakupan Data: Analisis ini hanya mencakup ulasan yang memiliki teks komentar. Ulasan dengan rating tanpa komentar tidak diikutsertakan, sehingga distribusi sentimen mencerminkan pengguna yang aktif memberikan pendapat dan dapat condong ke arah negatif dibanding populasi pengguna keseluruhan.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Distribusi Sentimen &amp; Rating</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1_sentiment_distribution_pie.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02_rating_distribution_raw.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Catatan Visual: Proporsi sentimen ulasan didominasi oleh rating Bintang 5 sebesar 68.03% (54,854 ulasan), yang mengindikasikan tingkat kepuasan/apresiasi utama yang tinggi dari pengguna. Sementara itu, rasio ketidakpuasan atau komplain minor (Bintang 1 &amp; 2) menyumbang sekitar 20.3% (16,369 ulasan) dari total ulasan.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Kategori Sentimen Negatif &amp; Keluhan Utama</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3_top_negative_categories.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06_top_negative_topics.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Analisis Keluhan: Kategori Masalah Akses Login (Pengguna gagal masuk ke aplikasi setelah melakukan pembaruan) dengan 6,059 ulasan &amp; Kategori Masalah Akses Aplikasi (Aplikasi tidak dapat dibuka setelah proses pembaruan selesai) dengan 5,537 ulasan mendominasi volume sentimen negatif.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Kinerja CS &amp; Penanganan Keluhan</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9_cs_reply_rate.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10_cs_reply_delay.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Evaluasi CS: Rata-rata reply rate penanganan keluhan adalah 50.4%. Median delay tanggapan berkisar antara 0.0 jam. Penanganan diarahkan dengan rata-rata pengalihan kontak bantuan/layanan admin sebesar 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